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6.svg" ContentType="image/svg+xml"/>
  <Override PartName="/ppt/media/image2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94" r:id="rId3"/>
    <p:sldMasterId id="2147483699" r:id="rId4"/>
    <p:sldMasterId id="2147483713" r:id="rId5"/>
  </p:sldMasterIdLst>
  <p:notesMasterIdLst>
    <p:notesMasterId r:id="rId13"/>
  </p:notesMasterIdLst>
  <p:sldIdLst>
    <p:sldId id="256" r:id="rId12"/>
    <p:sldId id="257" r:id="rId11"/>
    <p:sldId id="258" r:id="rId10"/>
    <p:sldId id="259" r:id="rId9"/>
    <p:sldId id="260" r:id="rId8"/>
    <p:sldId id="261" r:id="rId7"/>
    <p:sldId id="262" r:id="rId6"/>
    <p:sldId id="263" r:id="rId20"/>
    <p:sldId id="264" r:id="rId21"/>
    <p:sldId id="265" r:id="rId22"/>
    <p:sldId id="266" r:id="rId23"/>
    <p:sldId id="267" r:id="rId24"/>
    <p:sldId id="268" r:id="rId25"/>
    <p:sldId id="26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5E361-6728-4564-925F-CDEB010D9221}" v="1" dt="2026-08-12T11:52:41.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3.xml"/><Relationship Id="rId11" Type="http://schemas.openxmlformats.org/officeDocument/2006/relationships/slide" Target="slides/slide2.xml"/><Relationship Id="rId12" Type="http://schemas.openxmlformats.org/officeDocument/2006/relationships/slide" Target="slides/slide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umit" userId="1897bf9b-0dd3-4194-b659-65bd26db6033" providerId="ADAL" clId="{5772E9CC-A2D7-4A18-9F3D-98CD1ADE6210}"/>
    <pc:docChg chg="undo custSel addSld delSld modSld modMainMaster">
      <pc:chgData name="Gupta, Sumit" userId="1897bf9b-0dd3-4194-b659-65bd26db6033" providerId="ADAL" clId="{5772E9CC-A2D7-4A18-9F3D-98CD1ADE6210}" dt="2026-08-12T11:52:43.731" v="19" actId="47"/>
      <pc:docMkLst>
        <pc:docMk/>
      </pc:docMkLst>
      <pc:sldChg chg="add">
        <pc:chgData name="Gupta, Sumit" userId="1897bf9b-0dd3-4194-b659-65bd26db6033" providerId="ADAL" clId="{5772E9CC-A2D7-4A18-9F3D-98CD1ADE6210}" dt="2026-08-12T11:52:41.597" v="18"/>
        <pc:sldMkLst>
          <pc:docMk/>
          <pc:sldMk cId="4229161518" sldId="820"/>
        </pc:sldMkLst>
      </pc:sldChg>
      <pc:sldChg chg="del">
        <pc:chgData name="Gupta, Sumit" userId="1897bf9b-0dd3-4194-b659-65bd26db6033" providerId="ADAL" clId="{5772E9CC-A2D7-4A18-9F3D-98CD1ADE6210}" dt="2026-08-12T11:52:43.731" v="19" actId="47"/>
        <pc:sldMkLst>
          <pc:docMk/>
          <pc:sldMk cId="1508494297" sldId="945"/>
        </pc:sldMkLst>
      </pc:sldChg>
      <pc:sldChg chg="add">
        <pc:chgData name="Gupta, Sumit" userId="1897bf9b-0dd3-4194-b659-65bd26db6033" providerId="ADAL" clId="{5772E9CC-A2D7-4A18-9F3D-98CD1ADE6210}" dt="2026-07-24T04:48:05.146" v="0"/>
        <pc:sldMkLst>
          <pc:docMk/>
          <pc:sldMk cId="2959471642" sldId="2857"/>
        </pc:sldMkLst>
      </pc:sldChg>
      <pc:sldChg chg="add">
        <pc:chgData name="Gupta, Sumit" userId="1897bf9b-0dd3-4194-b659-65bd26db6033" providerId="ADAL" clId="{5772E9CC-A2D7-4A18-9F3D-98CD1ADE6210}" dt="2026-07-24T04:48:05.146" v="0"/>
        <pc:sldMkLst>
          <pc:docMk/>
          <pc:sldMk cId="280955698" sldId="2870"/>
        </pc:sldMkLst>
      </pc:sldChg>
      <pc:sldChg chg="add">
        <pc:chgData name="Gupta, Sumit" userId="1897bf9b-0dd3-4194-b659-65bd26db6033" providerId="ADAL" clId="{5772E9CC-A2D7-4A18-9F3D-98CD1ADE6210}" dt="2026-07-24T04:48:05.146" v="0"/>
        <pc:sldMkLst>
          <pc:docMk/>
          <pc:sldMk cId="969716135" sldId="1906872563"/>
        </pc:sldMkLst>
      </pc:sldChg>
      <pc:sldChg chg="delSp modSp add mod">
        <pc:chgData name="Gupta, Sumit" userId="1897bf9b-0dd3-4194-b659-65bd26db6033" providerId="ADAL" clId="{5772E9CC-A2D7-4A18-9F3D-98CD1ADE6210}" dt="2026-07-24T04:48:25.970" v="2" actId="20577"/>
        <pc:sldMkLst>
          <pc:docMk/>
          <pc:sldMk cId="2205980423" sldId="1906872569"/>
        </pc:sldMkLst>
        <pc:spChg chg="mod">
          <ac:chgData name="Gupta, Sumit" userId="1897bf9b-0dd3-4194-b659-65bd26db6033" providerId="ADAL" clId="{5772E9CC-A2D7-4A18-9F3D-98CD1ADE6210}" dt="2026-07-24T04:48:25.970" v="2" actId="20577"/>
          <ac:spMkLst>
            <pc:docMk/>
            <pc:sldMk cId="2205980423" sldId="1906872569"/>
            <ac:spMk id="4" creationId="{00000000-0000-0000-0000-000000000000}"/>
          </ac:spMkLst>
        </pc:spChg>
      </pc:sldChg>
      <pc:sldChg chg="modSp add mod">
        <pc:chgData name="Gupta, Sumit" userId="1897bf9b-0dd3-4194-b659-65bd26db6033" providerId="ADAL" clId="{5772E9CC-A2D7-4A18-9F3D-98CD1ADE6210}" dt="2026-07-24T04:48:43.369" v="7" actId="20577"/>
        <pc:sldMkLst>
          <pc:docMk/>
          <pc:sldMk cId="3845603560" sldId="1906872570"/>
        </pc:sldMkLst>
        <pc:spChg chg="mod">
          <ac:chgData name="Gupta, Sumit" userId="1897bf9b-0dd3-4194-b659-65bd26db6033" providerId="ADAL" clId="{5772E9CC-A2D7-4A18-9F3D-98CD1ADE6210}" dt="2026-07-24T04:48:43.369" v="7" actId="20577"/>
          <ac:spMkLst>
            <pc:docMk/>
            <pc:sldMk cId="3845603560" sldId="1906872570"/>
            <ac:spMk id="4" creationId="{00000000-0000-0000-0000-000000000000}"/>
          </ac:spMkLst>
        </pc:spChg>
      </pc:sldChg>
      <pc:sldMasterChg chg="delSldLayout modSldLayout">
        <pc:chgData name="Gupta, Sumit" userId="1897bf9b-0dd3-4194-b659-65bd26db6033" providerId="ADAL" clId="{5772E9CC-A2D7-4A18-9F3D-98CD1ADE6210}" dt="2026-07-24T04:49:43.724" v="17"/>
        <pc:sldMasterMkLst>
          <pc:docMk/>
          <pc:sldMasterMk cId="3154538439" sldId="2147483660"/>
        </pc:sldMasterMkLst>
        <pc:sldLayoutChg chg="modSp">
          <pc:chgData name="Gupta, Sumit" userId="1897bf9b-0dd3-4194-b659-65bd26db6033" providerId="ADAL" clId="{5772E9CC-A2D7-4A18-9F3D-98CD1ADE6210}" dt="2026-07-24T04:49:43.724" v="17"/>
          <pc:sldLayoutMkLst>
            <pc:docMk/>
            <pc:sldMasterMk cId="3154538439" sldId="2147483660"/>
            <pc:sldLayoutMk cId="2368417819" sldId="2147483662"/>
          </pc:sldLayoutMkLst>
          <pc:spChg chg="mod">
            <ac:chgData name="Gupta, Sumit" userId="1897bf9b-0dd3-4194-b659-65bd26db6033" providerId="ADAL" clId="{5772E9CC-A2D7-4A18-9F3D-98CD1ADE6210}" dt="2026-07-24T04:49:43.724" v="17"/>
            <ac:spMkLst>
              <pc:docMk/>
              <pc:sldMasterMk cId="3154538439" sldId="2147483660"/>
              <pc:sldLayoutMk cId="2368417819" sldId="2147483662"/>
              <ac:spMk id="3" creationId="{1BFF566D-EEFC-0454-54B0-66CBAB8DA700}"/>
            </ac:spMkLst>
          </pc:spChg>
        </pc:sldLayoutChg>
        <pc:sldLayoutChg chg="addSp delSp modSp mod">
          <pc:chgData name="Gupta, Sumit" userId="1897bf9b-0dd3-4194-b659-65bd26db6033" providerId="ADAL" clId="{5772E9CC-A2D7-4A18-9F3D-98CD1ADE6210}" dt="2026-07-24T04:49:43.724" v="17"/>
          <pc:sldLayoutMkLst>
            <pc:docMk/>
            <pc:sldMasterMk cId="3154538439" sldId="2147483660"/>
            <pc:sldLayoutMk cId="726607555" sldId="2147483673"/>
          </pc:sldLayoutMkLst>
          <pc:spChg chg="mod">
            <ac:chgData name="Gupta, Sumit" userId="1897bf9b-0dd3-4194-b659-65bd26db6033" providerId="ADAL" clId="{5772E9CC-A2D7-4A18-9F3D-98CD1ADE6210}" dt="2026-07-24T04:49:43.724" v="17"/>
            <ac:spMkLst>
              <pc:docMk/>
              <pc:sldMasterMk cId="3154538439" sldId="2147483660"/>
              <pc:sldLayoutMk cId="726607555" sldId="2147483673"/>
              <ac:spMk id="2" creationId="{8F090878-FDCB-E32E-7E4D-4A1D113FA508}"/>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jpe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25.emf"/><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7.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7.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8.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9.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dirty="0">
                <a:solidFill>
                  <a:schemeClr val="bg1">
                    <a:lumMod val="85000"/>
                    <a:alpha val="75000"/>
                  </a:schemeClr>
                </a:solidFill>
                <a:latin typeface="Graphik" panose="020B0503030202060203" pitchFamily="34" charset="77"/>
              </a:rPr>
              <a:t>Copyright © 2026 Accenture. All rights reserved.</a:t>
            </a:r>
            <a:endParaRPr lang="en-US" sz="108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option 4">
    <p:bg>
      <p:bgPr>
        <a:solidFill>
          <a:schemeClr val="bg1"/>
        </a:solidFill>
        <a:effectLst/>
      </p:bgPr>
    </p:bg>
    <p:spTree>
      <p:nvGrpSpPr>
        <p:cNvPr id="1" name=""/>
        <p:cNvGrpSpPr/>
        <p:nvPr/>
      </p:nvGrpSpPr>
      <p:grpSpPr>
        <a:xfrm>
          <a:off x="0" y="0"/>
          <a:ext cx="0" cy="0"/>
          <a:chOff x="0" y="0"/>
          <a:chExt cx="0" cy="0"/>
        </a:xfrm>
      </p:grpSpPr>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410716" y="3580468"/>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824549" y="358356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3588203"/>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410716" y="1597537"/>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824549" y="1600631"/>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160527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402461" y="230446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824549" y="228869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228685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94206" y="428739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816294" y="427162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426978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18" name="Footer Placeholder 6">
            <a:extLst>
              <a:ext uri="{FF2B5EF4-FFF2-40B4-BE49-F238E27FC236}">
                <a16:creationId xmlns:a16="http://schemas.microsoft.com/office/drawing/2014/main" id="{FC8AB6A1-27E9-4726-8EED-1379C2B79DD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0" name="Slide Number Placeholder 9">
            <a:extLst>
              <a:ext uri="{FF2B5EF4-FFF2-40B4-BE49-F238E27FC236}">
                <a16:creationId xmlns:a16="http://schemas.microsoft.com/office/drawing/2014/main" id="{99EB2F96-A524-4376-ABC5-3FEBABEBAAB8}"/>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7" name="Text Placeholder 2">
            <a:extLst>
              <a:ext uri="{FF2B5EF4-FFF2-40B4-BE49-F238E27FC236}">
                <a16:creationId xmlns:a16="http://schemas.microsoft.com/office/drawing/2014/main" id="{174109FF-31FD-44DD-9BFD-B595E095CCA3}"/>
              </a:ext>
            </a:extLst>
          </p:cNvPr>
          <p:cNvSpPr>
            <a:spLocks noGrp="1"/>
          </p:cNvSpPr>
          <p:nvPr>
            <p:ph type="body" sz="quarter" idx="10" hasCustomPrompt="1"/>
          </p:nvPr>
        </p:nvSpPr>
        <p:spPr>
          <a:xfrm>
            <a:off x="369776" y="1597537"/>
            <a:ext cx="4395264" cy="3523001"/>
          </a:xfrm>
          <a:prstGeom prst="rect">
            <a:avLst/>
          </a:prstGeom>
        </p:spPr>
        <p:txBody>
          <a:bodyPr tIns="0" bIns="0" anchor="b">
            <a:normAutofit/>
          </a:bodyPr>
          <a:lstStyle>
            <a:lvl1pPr>
              <a:lnSpc>
                <a:spcPct val="70000"/>
              </a:lnSpc>
              <a:defRPr sz="7200">
                <a:solidFill>
                  <a:schemeClr val="accent1"/>
                </a:solidFill>
              </a:defRPr>
            </a:lvl1pPr>
            <a:lvl2pPr>
              <a:defRPr sz="6000"/>
            </a:lvl2pPr>
            <a:lvl3pPr>
              <a:defRPr sz="6000"/>
            </a:lvl3pPr>
            <a:lvl4pPr>
              <a:defRPr sz="6000"/>
            </a:lvl4pPr>
            <a:lvl5pPr>
              <a:defRPr sz="6000"/>
            </a:lvl5pPr>
          </a:lstStyle>
          <a:p>
            <a:pPr lvl="0"/>
            <a:r>
              <a:rPr lang="en-US"/>
              <a:t>Agenda</a:t>
            </a:r>
          </a:p>
        </p:txBody>
      </p:sp>
    </p:spTree>
    <p:extLst>
      <p:ext uri="{BB962C8B-B14F-4D97-AF65-F5344CB8AC3E}">
        <p14:creationId xmlns:p14="http://schemas.microsoft.com/office/powerpoint/2010/main" val="312731847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Option 5">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p:nvPr>
        </p:nvSpPr>
        <p:spPr>
          <a:xfrm>
            <a:off x="381003" y="377805"/>
            <a:ext cx="11421740" cy="1565295"/>
          </a:xfrm>
        </p:spPr>
        <p:txBody>
          <a:bodyPr tIns="0" bIns="0" anchor="t">
            <a:normAutofit/>
          </a:bodyPr>
          <a:lstStyle>
            <a:lvl1pPr>
              <a:lnSpc>
                <a:spcPct val="80000"/>
              </a:lnSpc>
              <a:defRPr sz="6000" cap="none">
                <a:solidFill>
                  <a:schemeClr val="tx1"/>
                </a:solidFill>
              </a:defRPr>
            </a:lvl1pPr>
            <a:lvl2pPr>
              <a:defRPr sz="6000"/>
            </a:lvl2pPr>
            <a:lvl3pPr>
              <a:defRPr sz="6000"/>
            </a:lvl3pPr>
            <a:lvl4pPr>
              <a:defRPr sz="6000"/>
            </a:lvl4pPr>
            <a:lvl5pPr>
              <a:defRPr sz="6000"/>
            </a:lvl5pPr>
          </a:lstStyle>
          <a:p>
            <a:pPr lvl="0"/>
            <a:r>
              <a:rPr lang="en-US"/>
              <a:t>Click to edit Master text styles</a:t>
            </a:r>
          </a:p>
        </p:txBody>
      </p:sp>
      <p:sp>
        <p:nvSpPr>
          <p:cNvPr id="70" name="Text Placeholder 44">
            <a:extLst>
              <a:ext uri="{FF2B5EF4-FFF2-40B4-BE49-F238E27FC236}">
                <a16:creationId xmlns:a16="http://schemas.microsoft.com/office/drawing/2014/main" id="{62554568-01B3-4431-8A8E-3067ECE43FA1}"/>
              </a:ext>
            </a:extLst>
          </p:cNvPr>
          <p:cNvSpPr>
            <a:spLocks noGrp="1"/>
          </p:cNvSpPr>
          <p:nvPr>
            <p:ph type="body" sz="quarter" idx="32" hasCustomPrompt="1"/>
          </p:nvPr>
        </p:nvSpPr>
        <p:spPr>
          <a:xfrm>
            <a:off x="397512" y="4346013"/>
            <a:ext cx="1572616" cy="699189"/>
          </a:xfrm>
        </p:spPr>
        <p:txBody>
          <a:bodyPr anchor="b">
            <a:normAutofit/>
          </a:bodyPr>
          <a:lstStyle>
            <a:lvl1pPr>
              <a:defRPr sz="3200">
                <a:solidFill>
                  <a:schemeClr val="accent1"/>
                </a:solidFill>
                <a:latin typeface="+mj-lt"/>
              </a:defRPr>
            </a:lvl1pPr>
          </a:lstStyle>
          <a:p>
            <a:pPr lvl="0"/>
            <a:r>
              <a:rPr lang="en-US"/>
              <a:t>06</a:t>
            </a:r>
            <a:endParaRPr lang="en-GB"/>
          </a:p>
        </p:txBody>
      </p:sp>
      <p:sp>
        <p:nvSpPr>
          <p:cNvPr id="71" name="Text Placeholder 44">
            <a:extLst>
              <a:ext uri="{FF2B5EF4-FFF2-40B4-BE49-F238E27FC236}">
                <a16:creationId xmlns:a16="http://schemas.microsoft.com/office/drawing/2014/main" id="{CCA78229-FDF4-4DB6-B436-CBCFEF931441}"/>
              </a:ext>
            </a:extLst>
          </p:cNvPr>
          <p:cNvSpPr>
            <a:spLocks noGrp="1"/>
          </p:cNvSpPr>
          <p:nvPr>
            <p:ph type="body" sz="quarter" idx="33" hasCustomPrompt="1"/>
          </p:nvPr>
        </p:nvSpPr>
        <p:spPr>
          <a:xfrm>
            <a:off x="2857730" y="4346013"/>
            <a:ext cx="1572616" cy="699189"/>
          </a:xfrm>
        </p:spPr>
        <p:txBody>
          <a:bodyPr anchor="b">
            <a:normAutofit/>
          </a:bodyPr>
          <a:lstStyle>
            <a:lvl1pPr>
              <a:defRPr sz="3200">
                <a:solidFill>
                  <a:schemeClr val="accent1"/>
                </a:solidFill>
                <a:latin typeface="+mj-lt"/>
              </a:defRPr>
            </a:lvl1pPr>
          </a:lstStyle>
          <a:p>
            <a:pPr lvl="0"/>
            <a:r>
              <a:rPr lang="en-US"/>
              <a:t>07</a:t>
            </a:r>
            <a:endParaRPr lang="en-GB"/>
          </a:p>
        </p:txBody>
      </p:sp>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317948" y="4346013"/>
            <a:ext cx="1572616" cy="699189"/>
          </a:xfrm>
        </p:spPr>
        <p:txBody>
          <a:bodyPr anchor="b">
            <a:normAutofit/>
          </a:bodyPr>
          <a:lstStyle>
            <a:lvl1pPr>
              <a:defRPr sz="3200">
                <a:solidFill>
                  <a:schemeClr val="accent1"/>
                </a:solidFill>
                <a:latin typeface="+mj-lt"/>
              </a:defRPr>
            </a:lvl1pPr>
          </a:lstStyle>
          <a:p>
            <a:pPr lvl="0"/>
            <a:r>
              <a:rPr lang="en-US"/>
              <a:t>08</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778166" y="4346013"/>
            <a:ext cx="1572616" cy="699189"/>
          </a:xfrm>
        </p:spPr>
        <p:txBody>
          <a:bodyPr anchor="b">
            <a:normAutofit/>
          </a:bodyPr>
          <a:lstStyle>
            <a:lvl1pPr>
              <a:defRPr sz="3200">
                <a:solidFill>
                  <a:schemeClr val="accent1"/>
                </a:solidFill>
                <a:latin typeface="+mj-lt"/>
              </a:defRPr>
            </a:lvl1pPr>
          </a:lstStyle>
          <a:p>
            <a:pPr lvl="0"/>
            <a:r>
              <a:rPr lang="en-US"/>
              <a:t>09</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4346013"/>
            <a:ext cx="1572616" cy="699189"/>
          </a:xfrm>
        </p:spPr>
        <p:txBody>
          <a:bodyPr anchor="b">
            <a:normAutofit/>
          </a:bodyPr>
          <a:lstStyle>
            <a:lvl1pPr>
              <a:defRPr sz="3200">
                <a:solidFill>
                  <a:schemeClr val="accent1"/>
                </a:solidFill>
                <a:latin typeface="+mj-lt"/>
              </a:defRPr>
            </a:lvl1pPr>
          </a:lstStyle>
          <a:p>
            <a:pPr lvl="0"/>
            <a:r>
              <a:rPr lang="en-US"/>
              <a:t>10</a:t>
            </a:r>
            <a:endParaRPr lang="en-GB"/>
          </a:p>
        </p:txBody>
      </p:sp>
      <p:sp>
        <p:nvSpPr>
          <p:cNvPr id="75" name="Text Placeholder 44">
            <a:extLst>
              <a:ext uri="{FF2B5EF4-FFF2-40B4-BE49-F238E27FC236}">
                <a16:creationId xmlns:a16="http://schemas.microsoft.com/office/drawing/2014/main" id="{D012A4F1-1A7B-4861-AAD0-9C8C48E69A0B}"/>
              </a:ext>
            </a:extLst>
          </p:cNvPr>
          <p:cNvSpPr>
            <a:spLocks noGrp="1"/>
          </p:cNvSpPr>
          <p:nvPr>
            <p:ph type="body" sz="quarter" idx="42" hasCustomPrompt="1"/>
          </p:nvPr>
        </p:nvSpPr>
        <p:spPr>
          <a:xfrm>
            <a:off x="397512" y="2363082"/>
            <a:ext cx="1572616" cy="699189"/>
          </a:xfrm>
        </p:spPr>
        <p:txBody>
          <a:bodyPr anchor="b">
            <a:normAutofit/>
          </a:bodyPr>
          <a:lstStyle>
            <a:lvl1pPr>
              <a:defRPr sz="3200">
                <a:solidFill>
                  <a:schemeClr val="accent1"/>
                </a:solidFill>
                <a:latin typeface="+mj-lt"/>
              </a:defRPr>
            </a:lvl1pPr>
          </a:lstStyle>
          <a:p>
            <a:pPr lvl="0"/>
            <a:r>
              <a:rPr lang="en-US"/>
              <a:t>01</a:t>
            </a:r>
            <a:endParaRPr lang="en-GB"/>
          </a:p>
        </p:txBody>
      </p:sp>
      <p:sp>
        <p:nvSpPr>
          <p:cNvPr id="76" name="Text Placeholder 44">
            <a:extLst>
              <a:ext uri="{FF2B5EF4-FFF2-40B4-BE49-F238E27FC236}">
                <a16:creationId xmlns:a16="http://schemas.microsoft.com/office/drawing/2014/main" id="{87432211-FA1B-4912-9E9D-1B7D1089CA20}"/>
              </a:ext>
            </a:extLst>
          </p:cNvPr>
          <p:cNvSpPr>
            <a:spLocks noGrp="1"/>
          </p:cNvSpPr>
          <p:nvPr>
            <p:ph type="body" sz="quarter" idx="43" hasCustomPrompt="1"/>
          </p:nvPr>
        </p:nvSpPr>
        <p:spPr>
          <a:xfrm>
            <a:off x="2857730" y="2363082"/>
            <a:ext cx="1572616" cy="699189"/>
          </a:xfrm>
        </p:spPr>
        <p:txBody>
          <a:bodyPr anchor="b">
            <a:normAutofit/>
          </a:bodyPr>
          <a:lstStyle>
            <a:lvl1pPr>
              <a:defRPr sz="3200">
                <a:solidFill>
                  <a:schemeClr val="accent1"/>
                </a:solidFill>
                <a:latin typeface="+mj-lt"/>
              </a:defRPr>
            </a:lvl1pPr>
          </a:lstStyle>
          <a:p>
            <a:pPr lvl="0"/>
            <a:r>
              <a:rPr lang="en-US"/>
              <a:t>02</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317948" y="2363082"/>
            <a:ext cx="1572616" cy="699189"/>
          </a:xfrm>
        </p:spPr>
        <p:txBody>
          <a:bodyPr anchor="b">
            <a:normAutofit/>
          </a:bodyPr>
          <a:lstStyle>
            <a:lvl1pPr>
              <a:defRPr sz="3200">
                <a:solidFill>
                  <a:schemeClr val="accent1"/>
                </a:solidFill>
                <a:latin typeface="+mj-lt"/>
              </a:defRPr>
            </a:lvl1pPr>
          </a:lstStyle>
          <a:p>
            <a:pPr lvl="0"/>
            <a:r>
              <a:rPr lang="en-US"/>
              <a:t>03</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778166" y="2363082"/>
            <a:ext cx="1572616" cy="699189"/>
          </a:xfrm>
        </p:spPr>
        <p:txBody>
          <a:bodyPr anchor="b">
            <a:normAutofit/>
          </a:bodyPr>
          <a:lstStyle>
            <a:lvl1pPr>
              <a:defRPr sz="3200">
                <a:solidFill>
                  <a:schemeClr val="accent1"/>
                </a:solidFill>
                <a:latin typeface="+mj-lt"/>
              </a:defRPr>
            </a:lvl1pPr>
          </a:lstStyle>
          <a:p>
            <a:pPr lvl="0"/>
            <a:r>
              <a:rPr lang="en-US"/>
              <a:t>04</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2363082"/>
            <a:ext cx="1572616" cy="699189"/>
          </a:xfrm>
        </p:spPr>
        <p:txBody>
          <a:bodyPr anchor="b">
            <a:normAutofit/>
          </a:bodyPr>
          <a:lstStyle>
            <a:lvl1pPr>
              <a:defRPr sz="3200">
                <a:solidFill>
                  <a:schemeClr val="accent1"/>
                </a:solidFill>
                <a:latin typeface="+mj-lt"/>
              </a:defRPr>
            </a:lvl1pPr>
          </a:lstStyle>
          <a:p>
            <a:pPr lvl="0"/>
            <a:r>
              <a:rPr lang="en-US"/>
              <a:t>05</a:t>
            </a:r>
            <a:endParaRPr lang="en-GB"/>
          </a:p>
        </p:txBody>
      </p:sp>
      <p:sp>
        <p:nvSpPr>
          <p:cNvPr id="80" name="Text Placeholder 2">
            <a:extLst>
              <a:ext uri="{FF2B5EF4-FFF2-40B4-BE49-F238E27FC236}">
                <a16:creationId xmlns:a16="http://schemas.microsoft.com/office/drawing/2014/main" id="{439731EE-FBBF-4749-8E58-161D1BD24B6E}"/>
              </a:ext>
            </a:extLst>
          </p:cNvPr>
          <p:cNvSpPr>
            <a:spLocks noGrp="1"/>
          </p:cNvSpPr>
          <p:nvPr>
            <p:ph type="body" sz="quarter" idx="13" hasCustomPrompt="1"/>
          </p:nvPr>
        </p:nvSpPr>
        <p:spPr>
          <a:xfrm>
            <a:off x="397512" y="315947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1" name="Text Placeholder 2">
            <a:extLst>
              <a:ext uri="{FF2B5EF4-FFF2-40B4-BE49-F238E27FC236}">
                <a16:creationId xmlns:a16="http://schemas.microsoft.com/office/drawing/2014/main" id="{53987512-4428-45A6-9E5A-ECC62C5A7845}"/>
              </a:ext>
            </a:extLst>
          </p:cNvPr>
          <p:cNvSpPr>
            <a:spLocks noGrp="1"/>
          </p:cNvSpPr>
          <p:nvPr>
            <p:ph type="body" sz="quarter" idx="53" hasCustomPrompt="1"/>
          </p:nvPr>
        </p:nvSpPr>
        <p:spPr>
          <a:xfrm>
            <a:off x="2861856" y="314370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317946" y="316263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782290" y="314686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314502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5" name="Text Placeholder 2">
            <a:extLst>
              <a:ext uri="{FF2B5EF4-FFF2-40B4-BE49-F238E27FC236}">
                <a16:creationId xmlns:a16="http://schemas.microsoft.com/office/drawing/2014/main" id="{02847DEE-A5F9-4C29-B154-1544212CE4E9}"/>
              </a:ext>
            </a:extLst>
          </p:cNvPr>
          <p:cNvSpPr>
            <a:spLocks noGrp="1"/>
          </p:cNvSpPr>
          <p:nvPr>
            <p:ph type="body" sz="quarter" idx="57" hasCustomPrompt="1"/>
          </p:nvPr>
        </p:nvSpPr>
        <p:spPr>
          <a:xfrm>
            <a:off x="389257" y="514240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6" name="Text Placeholder 2">
            <a:extLst>
              <a:ext uri="{FF2B5EF4-FFF2-40B4-BE49-F238E27FC236}">
                <a16:creationId xmlns:a16="http://schemas.microsoft.com/office/drawing/2014/main" id="{8FDB1794-F8AB-4138-AAA1-A52DD6E79A3A}"/>
              </a:ext>
            </a:extLst>
          </p:cNvPr>
          <p:cNvSpPr>
            <a:spLocks noGrp="1"/>
          </p:cNvSpPr>
          <p:nvPr>
            <p:ph type="body" sz="quarter" idx="58" hasCustomPrompt="1"/>
          </p:nvPr>
        </p:nvSpPr>
        <p:spPr>
          <a:xfrm>
            <a:off x="2853601" y="512663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09691" y="514556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774035" y="512979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512795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27" name="Footer Placeholder 6">
            <a:extLst>
              <a:ext uri="{FF2B5EF4-FFF2-40B4-BE49-F238E27FC236}">
                <a16:creationId xmlns:a16="http://schemas.microsoft.com/office/drawing/2014/main" id="{DF893CCF-7E5D-47A2-BEAA-290732009D8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29F35-82A7-4CD0-B264-4B8953C83B45}"/>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6552728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Footer Placeholder 6">
            <a:extLst>
              <a:ext uri="{FF2B5EF4-FFF2-40B4-BE49-F238E27FC236}">
                <a16:creationId xmlns:a16="http://schemas.microsoft.com/office/drawing/2014/main" id="{2D7B9C33-7860-4A78-8365-326155D0DC4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8" name="Slide Number Placeholder 9">
            <a:extLst>
              <a:ext uri="{FF2B5EF4-FFF2-40B4-BE49-F238E27FC236}">
                <a16:creationId xmlns:a16="http://schemas.microsoft.com/office/drawing/2014/main" id="{75CA6DF9-3D47-44A0-9AE6-EE81F577848A}"/>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79483210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10" name="Footer Placeholder 6">
            <a:extLst>
              <a:ext uri="{FF2B5EF4-FFF2-40B4-BE49-F238E27FC236}">
                <a16:creationId xmlns:a16="http://schemas.microsoft.com/office/drawing/2014/main" id="{03EC794A-FC92-4AAF-AE86-050FA799F51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1" name="Slide Number Placeholder 9">
            <a:extLst>
              <a:ext uri="{FF2B5EF4-FFF2-40B4-BE49-F238E27FC236}">
                <a16:creationId xmlns:a16="http://schemas.microsoft.com/office/drawing/2014/main" id="{31586DA7-028B-46B2-8DE5-CD490E3A728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36396688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ullets Option 3">
    <p:spTree>
      <p:nvGrpSpPr>
        <p:cNvPr id="1" name=""/>
        <p:cNvGrpSpPr/>
        <p:nvPr/>
      </p:nvGrpSpPr>
      <p:grpSpPr>
        <a:xfrm>
          <a:off x="0" y="0"/>
          <a:ext cx="0" cy="0"/>
          <a:chOff x="0" y="0"/>
          <a:chExt cx="0" cy="0"/>
        </a:xfrm>
      </p:grpSpPr>
      <p:sp>
        <p:nvSpPr>
          <p:cNvPr id="17" name="Text Placeholder 25">
            <a:extLst>
              <a:ext uri="{FF2B5EF4-FFF2-40B4-BE49-F238E27FC236}">
                <a16:creationId xmlns:a16="http://schemas.microsoft.com/office/drawing/2014/main" id="{442A75EB-71CE-4543-ADEB-9A7264CF8BF0}"/>
              </a:ext>
            </a:extLst>
          </p:cNvPr>
          <p:cNvSpPr>
            <a:spLocks noGrp="1"/>
          </p:cNvSpPr>
          <p:nvPr>
            <p:ph type="body" sz="quarter" idx="21" hasCustomPrompt="1"/>
          </p:nvPr>
        </p:nvSpPr>
        <p:spPr>
          <a:xfrm>
            <a:off x="1003807"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8" name="Text Placeholder 25">
            <a:extLst>
              <a:ext uri="{FF2B5EF4-FFF2-40B4-BE49-F238E27FC236}">
                <a16:creationId xmlns:a16="http://schemas.microsoft.com/office/drawing/2014/main" id="{BCD1C719-53DB-4DE0-999D-A83E05EEDF81}"/>
              </a:ext>
            </a:extLst>
          </p:cNvPr>
          <p:cNvSpPr>
            <a:spLocks noGrp="1"/>
          </p:cNvSpPr>
          <p:nvPr>
            <p:ph type="body" sz="quarter" idx="27" hasCustomPrompt="1"/>
          </p:nvPr>
        </p:nvSpPr>
        <p:spPr>
          <a:xfrm>
            <a:off x="3746803"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9" name="Text Placeholder 25">
            <a:extLst>
              <a:ext uri="{FF2B5EF4-FFF2-40B4-BE49-F238E27FC236}">
                <a16:creationId xmlns:a16="http://schemas.microsoft.com/office/drawing/2014/main" id="{933372D4-A8C3-4A0E-8BC4-35430C7D44C9}"/>
              </a:ext>
            </a:extLst>
          </p:cNvPr>
          <p:cNvSpPr>
            <a:spLocks noGrp="1"/>
          </p:cNvSpPr>
          <p:nvPr>
            <p:ph type="body" sz="quarter" idx="28" hasCustomPrompt="1"/>
          </p:nvPr>
        </p:nvSpPr>
        <p:spPr>
          <a:xfrm>
            <a:off x="6600432"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0" name="Text Placeholder 25">
            <a:extLst>
              <a:ext uri="{FF2B5EF4-FFF2-40B4-BE49-F238E27FC236}">
                <a16:creationId xmlns:a16="http://schemas.microsoft.com/office/drawing/2014/main" id="{12AE7316-6AEE-48C3-B262-F48CA4EEC2F6}"/>
              </a:ext>
            </a:extLst>
          </p:cNvPr>
          <p:cNvSpPr>
            <a:spLocks noGrp="1"/>
          </p:cNvSpPr>
          <p:nvPr>
            <p:ph type="body" sz="quarter" idx="29" hasCustomPrompt="1"/>
          </p:nvPr>
        </p:nvSpPr>
        <p:spPr>
          <a:xfrm>
            <a:off x="9343428"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3" name="Footer Placeholder 6">
            <a:extLst>
              <a:ext uri="{FF2B5EF4-FFF2-40B4-BE49-F238E27FC236}">
                <a16:creationId xmlns:a16="http://schemas.microsoft.com/office/drawing/2014/main" id="{309F3C08-340B-4262-BE8D-7E0EC29922EC}"/>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4" name="Slide Number Placeholder 9">
            <a:extLst>
              <a:ext uri="{FF2B5EF4-FFF2-40B4-BE49-F238E27FC236}">
                <a16:creationId xmlns:a16="http://schemas.microsoft.com/office/drawing/2014/main" id="{D8EB1850-1114-408C-A2E4-09622ECAB10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25" name="Title 1">
            <a:extLst>
              <a:ext uri="{FF2B5EF4-FFF2-40B4-BE49-F238E27FC236}">
                <a16:creationId xmlns:a16="http://schemas.microsoft.com/office/drawing/2014/main" id="{3F77B05F-F630-4362-9489-073AAEA27D27}"/>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30" name="Text Placeholder 4">
            <a:extLst>
              <a:ext uri="{FF2B5EF4-FFF2-40B4-BE49-F238E27FC236}">
                <a16:creationId xmlns:a16="http://schemas.microsoft.com/office/drawing/2014/main" id="{D1F1FA6F-6B29-4B4E-AC66-C4BE76E3CE71}"/>
              </a:ext>
            </a:extLst>
          </p:cNvPr>
          <p:cNvSpPr>
            <a:spLocks noGrp="1"/>
          </p:cNvSpPr>
          <p:nvPr>
            <p:ph type="body" sz="quarter" idx="33" hasCustomPrompt="1"/>
          </p:nvPr>
        </p:nvSpPr>
        <p:spPr>
          <a:xfrm>
            <a:off x="663693"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
        <p:nvSpPr>
          <p:cNvPr id="31" name="Text Placeholder 4">
            <a:extLst>
              <a:ext uri="{FF2B5EF4-FFF2-40B4-BE49-F238E27FC236}">
                <a16:creationId xmlns:a16="http://schemas.microsoft.com/office/drawing/2014/main" id="{E4CAE9FD-CC6F-4B12-A12B-D279A44AE39D}"/>
              </a:ext>
            </a:extLst>
          </p:cNvPr>
          <p:cNvSpPr>
            <a:spLocks noGrp="1"/>
          </p:cNvSpPr>
          <p:nvPr>
            <p:ph type="body" sz="quarter" idx="34" hasCustomPrompt="1"/>
          </p:nvPr>
        </p:nvSpPr>
        <p:spPr>
          <a:xfrm>
            <a:off x="6288001"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Tree>
    <p:extLst>
      <p:ext uri="{BB962C8B-B14F-4D97-AF65-F5344CB8AC3E}">
        <p14:creationId xmlns:p14="http://schemas.microsoft.com/office/powerpoint/2010/main" val="75927270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ullets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928174"/>
            <a:ext cx="12191998" cy="440527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 Placeholder 41">
            <a:extLst>
              <a:ext uri="{FF2B5EF4-FFF2-40B4-BE49-F238E27FC236}">
                <a16:creationId xmlns:a16="http://schemas.microsoft.com/office/drawing/2014/main" id="{812566C2-550C-428D-9F25-97BA6ACC6D85}"/>
              </a:ext>
            </a:extLst>
          </p:cNvPr>
          <p:cNvSpPr>
            <a:spLocks noGrp="1"/>
          </p:cNvSpPr>
          <p:nvPr>
            <p:ph type="body" sz="quarter" idx="23" hasCustomPrompt="1"/>
          </p:nvPr>
        </p:nvSpPr>
        <p:spPr>
          <a:xfrm>
            <a:off x="14802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
        <p:nvSpPr>
          <p:cNvPr id="22" name="Text Placeholder 41">
            <a:extLst>
              <a:ext uri="{FF2B5EF4-FFF2-40B4-BE49-F238E27FC236}">
                <a16:creationId xmlns:a16="http://schemas.microsoft.com/office/drawing/2014/main" id="{50056D35-DC61-4D0F-B0C2-B062F0DD56A4}"/>
              </a:ext>
            </a:extLst>
          </p:cNvPr>
          <p:cNvSpPr>
            <a:spLocks noGrp="1"/>
          </p:cNvSpPr>
          <p:nvPr>
            <p:ph type="body" sz="quarter" idx="24" hasCustomPrompt="1"/>
          </p:nvPr>
        </p:nvSpPr>
        <p:spPr>
          <a:xfrm>
            <a:off x="4445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3" name="Text Placeholder 41">
            <a:extLst>
              <a:ext uri="{FF2B5EF4-FFF2-40B4-BE49-F238E27FC236}">
                <a16:creationId xmlns:a16="http://schemas.microsoft.com/office/drawing/2014/main" id="{4F54E055-BFC8-4967-AD47-F082AF139F1D}"/>
              </a:ext>
            </a:extLst>
          </p:cNvPr>
          <p:cNvSpPr>
            <a:spLocks noGrp="1"/>
          </p:cNvSpPr>
          <p:nvPr>
            <p:ph type="body" sz="quarter" idx="25" hasCustomPrompt="1"/>
          </p:nvPr>
        </p:nvSpPr>
        <p:spPr>
          <a:xfrm>
            <a:off x="14802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4" name="Text Placeholder 41">
            <a:extLst>
              <a:ext uri="{FF2B5EF4-FFF2-40B4-BE49-F238E27FC236}">
                <a16:creationId xmlns:a16="http://schemas.microsoft.com/office/drawing/2014/main" id="{17A9C8F1-2B45-4232-AB93-26450C462582}"/>
              </a:ext>
            </a:extLst>
          </p:cNvPr>
          <p:cNvSpPr>
            <a:spLocks noGrp="1"/>
          </p:cNvSpPr>
          <p:nvPr>
            <p:ph type="body" sz="quarter" idx="26" hasCustomPrompt="1"/>
          </p:nvPr>
        </p:nvSpPr>
        <p:spPr>
          <a:xfrm>
            <a:off x="4445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5" name="Text Placeholder 41">
            <a:extLst>
              <a:ext uri="{FF2B5EF4-FFF2-40B4-BE49-F238E27FC236}">
                <a16:creationId xmlns:a16="http://schemas.microsoft.com/office/drawing/2014/main" id="{D7F2FA40-8443-415A-BCEC-57907AD7C3D2}"/>
              </a:ext>
            </a:extLst>
          </p:cNvPr>
          <p:cNvSpPr>
            <a:spLocks noGrp="1"/>
          </p:cNvSpPr>
          <p:nvPr>
            <p:ph type="body" sz="quarter" idx="27" hasCustomPrompt="1"/>
          </p:nvPr>
        </p:nvSpPr>
        <p:spPr>
          <a:xfrm>
            <a:off x="14802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6" name="Text Placeholder 41">
            <a:extLst>
              <a:ext uri="{FF2B5EF4-FFF2-40B4-BE49-F238E27FC236}">
                <a16:creationId xmlns:a16="http://schemas.microsoft.com/office/drawing/2014/main" id="{4DFB22B2-7DED-4F30-9EEB-FB3AE9BC7459}"/>
              </a:ext>
            </a:extLst>
          </p:cNvPr>
          <p:cNvSpPr>
            <a:spLocks noGrp="1"/>
          </p:cNvSpPr>
          <p:nvPr>
            <p:ph type="body" sz="quarter" idx="28" hasCustomPrompt="1"/>
          </p:nvPr>
        </p:nvSpPr>
        <p:spPr>
          <a:xfrm>
            <a:off x="4445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3" name="Text Placeholder 41">
            <a:extLst>
              <a:ext uri="{FF2B5EF4-FFF2-40B4-BE49-F238E27FC236}">
                <a16:creationId xmlns:a16="http://schemas.microsoft.com/office/drawing/2014/main" id="{80618C3C-6BED-4F24-8BC3-0BA6574D0AA9}"/>
              </a:ext>
            </a:extLst>
          </p:cNvPr>
          <p:cNvSpPr>
            <a:spLocks noGrp="1"/>
          </p:cNvSpPr>
          <p:nvPr>
            <p:ph type="body" sz="quarter" idx="29" hasCustomPrompt="1"/>
          </p:nvPr>
        </p:nvSpPr>
        <p:spPr>
          <a:xfrm>
            <a:off x="71317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4" name="Text Placeholder 41">
            <a:extLst>
              <a:ext uri="{FF2B5EF4-FFF2-40B4-BE49-F238E27FC236}">
                <a16:creationId xmlns:a16="http://schemas.microsoft.com/office/drawing/2014/main" id="{18039CC1-2EA8-4C41-979B-4D20FB6809F8}"/>
              </a:ext>
            </a:extLst>
          </p:cNvPr>
          <p:cNvSpPr>
            <a:spLocks noGrp="1"/>
          </p:cNvSpPr>
          <p:nvPr>
            <p:ph type="body" sz="quarter" idx="30" hasCustomPrompt="1"/>
          </p:nvPr>
        </p:nvSpPr>
        <p:spPr>
          <a:xfrm>
            <a:off x="60960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5" name="Text Placeholder 41">
            <a:extLst>
              <a:ext uri="{FF2B5EF4-FFF2-40B4-BE49-F238E27FC236}">
                <a16:creationId xmlns:a16="http://schemas.microsoft.com/office/drawing/2014/main" id="{5A1FF5E6-3D7C-4087-AFF1-48A99E04CE23}"/>
              </a:ext>
            </a:extLst>
          </p:cNvPr>
          <p:cNvSpPr>
            <a:spLocks noGrp="1"/>
          </p:cNvSpPr>
          <p:nvPr>
            <p:ph type="body" sz="quarter" idx="31" hasCustomPrompt="1"/>
          </p:nvPr>
        </p:nvSpPr>
        <p:spPr>
          <a:xfrm>
            <a:off x="71317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6" name="Text Placeholder 41">
            <a:extLst>
              <a:ext uri="{FF2B5EF4-FFF2-40B4-BE49-F238E27FC236}">
                <a16:creationId xmlns:a16="http://schemas.microsoft.com/office/drawing/2014/main" id="{BB2C9A29-68E9-4B62-8688-F3255D0DC6FC}"/>
              </a:ext>
            </a:extLst>
          </p:cNvPr>
          <p:cNvSpPr>
            <a:spLocks noGrp="1"/>
          </p:cNvSpPr>
          <p:nvPr>
            <p:ph type="body" sz="quarter" idx="32" hasCustomPrompt="1"/>
          </p:nvPr>
        </p:nvSpPr>
        <p:spPr>
          <a:xfrm>
            <a:off x="60960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7" name="Text Placeholder 41">
            <a:extLst>
              <a:ext uri="{FF2B5EF4-FFF2-40B4-BE49-F238E27FC236}">
                <a16:creationId xmlns:a16="http://schemas.microsoft.com/office/drawing/2014/main" id="{353E4163-5423-4488-93B4-72E261A04E01}"/>
              </a:ext>
            </a:extLst>
          </p:cNvPr>
          <p:cNvSpPr>
            <a:spLocks noGrp="1"/>
          </p:cNvSpPr>
          <p:nvPr>
            <p:ph type="body" sz="quarter" idx="33" hasCustomPrompt="1"/>
          </p:nvPr>
        </p:nvSpPr>
        <p:spPr>
          <a:xfrm>
            <a:off x="71317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8" name="Text Placeholder 41">
            <a:extLst>
              <a:ext uri="{FF2B5EF4-FFF2-40B4-BE49-F238E27FC236}">
                <a16:creationId xmlns:a16="http://schemas.microsoft.com/office/drawing/2014/main" id="{EC5DB573-F8E8-4DEA-AEA6-9E4D218638CE}"/>
              </a:ext>
            </a:extLst>
          </p:cNvPr>
          <p:cNvSpPr>
            <a:spLocks noGrp="1"/>
          </p:cNvSpPr>
          <p:nvPr>
            <p:ph type="body" sz="quarter" idx="34" hasCustomPrompt="1"/>
          </p:nvPr>
        </p:nvSpPr>
        <p:spPr>
          <a:xfrm>
            <a:off x="60960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A822CE51-5843-4191-8C13-33C56088059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94660267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ullets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754996"/>
            <a:ext cx="12191998" cy="457845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FFD4091F-4540-47D0-9D89-6BCB0291E505}"/>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2" name="Text Placeholder 41">
            <a:extLst>
              <a:ext uri="{FF2B5EF4-FFF2-40B4-BE49-F238E27FC236}">
                <a16:creationId xmlns:a16="http://schemas.microsoft.com/office/drawing/2014/main" id="{53346DC2-FD7B-49C4-8AAB-B359175B7BF5}"/>
              </a:ext>
            </a:extLst>
          </p:cNvPr>
          <p:cNvSpPr>
            <a:spLocks noGrp="1"/>
          </p:cNvSpPr>
          <p:nvPr>
            <p:ph type="body" sz="quarter" idx="24" hasCustomPrompt="1"/>
          </p:nvPr>
        </p:nvSpPr>
        <p:spPr>
          <a:xfrm>
            <a:off x="381001"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3" name="Text Placeholder 41">
            <a:extLst>
              <a:ext uri="{FF2B5EF4-FFF2-40B4-BE49-F238E27FC236}">
                <a16:creationId xmlns:a16="http://schemas.microsoft.com/office/drawing/2014/main" id="{AC42A312-9979-4A01-9158-57CD4C8CA33D}"/>
              </a:ext>
            </a:extLst>
          </p:cNvPr>
          <p:cNvSpPr>
            <a:spLocks noGrp="1"/>
          </p:cNvSpPr>
          <p:nvPr>
            <p:ph type="body" sz="quarter" idx="45" hasCustomPrompt="1"/>
          </p:nvPr>
        </p:nvSpPr>
        <p:spPr>
          <a:xfrm>
            <a:off x="381000"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4" name="Text Placeholder 41">
            <a:extLst>
              <a:ext uri="{FF2B5EF4-FFF2-40B4-BE49-F238E27FC236}">
                <a16:creationId xmlns:a16="http://schemas.microsoft.com/office/drawing/2014/main" id="{E6AD4056-7137-4DCF-A115-E508E36FD57C}"/>
              </a:ext>
            </a:extLst>
          </p:cNvPr>
          <p:cNvSpPr>
            <a:spLocks noGrp="1"/>
          </p:cNvSpPr>
          <p:nvPr>
            <p:ph type="body" sz="quarter" idx="46" hasCustomPrompt="1"/>
          </p:nvPr>
        </p:nvSpPr>
        <p:spPr>
          <a:xfrm>
            <a:off x="380999"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5" name="Text Placeholder 41">
            <a:extLst>
              <a:ext uri="{FF2B5EF4-FFF2-40B4-BE49-F238E27FC236}">
                <a16:creationId xmlns:a16="http://schemas.microsoft.com/office/drawing/2014/main" id="{C209F1A0-3F27-4F19-87B3-B17D5D0FF7A5}"/>
              </a:ext>
            </a:extLst>
          </p:cNvPr>
          <p:cNvSpPr>
            <a:spLocks noGrp="1"/>
          </p:cNvSpPr>
          <p:nvPr>
            <p:ph type="body" sz="quarter" idx="47" hasCustomPrompt="1"/>
          </p:nvPr>
        </p:nvSpPr>
        <p:spPr>
          <a:xfrm>
            <a:off x="6103436"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6" name="Text Placeholder 41">
            <a:extLst>
              <a:ext uri="{FF2B5EF4-FFF2-40B4-BE49-F238E27FC236}">
                <a16:creationId xmlns:a16="http://schemas.microsoft.com/office/drawing/2014/main" id="{8FD5C041-A388-41EA-ABD7-248D2E8C55D3}"/>
              </a:ext>
            </a:extLst>
          </p:cNvPr>
          <p:cNvSpPr>
            <a:spLocks noGrp="1"/>
          </p:cNvSpPr>
          <p:nvPr>
            <p:ph type="body" sz="quarter" idx="48" hasCustomPrompt="1"/>
          </p:nvPr>
        </p:nvSpPr>
        <p:spPr>
          <a:xfrm>
            <a:off x="6103435"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7" name="Text Placeholder 41">
            <a:extLst>
              <a:ext uri="{FF2B5EF4-FFF2-40B4-BE49-F238E27FC236}">
                <a16:creationId xmlns:a16="http://schemas.microsoft.com/office/drawing/2014/main" id="{C81EE5FD-7567-45E7-B11B-1CDE922D19C1}"/>
              </a:ext>
            </a:extLst>
          </p:cNvPr>
          <p:cNvSpPr>
            <a:spLocks noGrp="1"/>
          </p:cNvSpPr>
          <p:nvPr>
            <p:ph type="body" sz="quarter" idx="49" hasCustomPrompt="1"/>
          </p:nvPr>
        </p:nvSpPr>
        <p:spPr>
          <a:xfrm>
            <a:off x="6103434"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Tree>
    <p:extLst>
      <p:ext uri="{BB962C8B-B14F-4D97-AF65-F5344CB8AC3E}">
        <p14:creationId xmlns:p14="http://schemas.microsoft.com/office/powerpoint/2010/main" val="357989538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ullets Option 6">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59EABE65-FD93-400B-BAEB-2365B18C1003}"/>
              </a:ext>
            </a:extLst>
          </p:cNvPr>
          <p:cNvSpPr>
            <a:spLocks noGrp="1"/>
          </p:cNvSpPr>
          <p:nvPr>
            <p:ph type="body" sz="quarter" idx="11" hasCustomPrompt="1"/>
          </p:nvPr>
        </p:nvSpPr>
        <p:spPr>
          <a:xfrm>
            <a:off x="409575"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19" name="Text Placeholder 3">
            <a:extLst>
              <a:ext uri="{FF2B5EF4-FFF2-40B4-BE49-F238E27FC236}">
                <a16:creationId xmlns:a16="http://schemas.microsoft.com/office/drawing/2014/main" id="{047176E6-F8F4-49FC-A12D-CEB5CA6D6075}"/>
              </a:ext>
            </a:extLst>
          </p:cNvPr>
          <p:cNvSpPr>
            <a:spLocks noGrp="1"/>
          </p:cNvSpPr>
          <p:nvPr>
            <p:ph type="body" sz="quarter" idx="12" hasCustomPrompt="1"/>
          </p:nvPr>
        </p:nvSpPr>
        <p:spPr>
          <a:xfrm>
            <a:off x="409575"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7AF73BDE-319D-4219-A5C1-DEB579218903}"/>
              </a:ext>
            </a:extLst>
          </p:cNvPr>
          <p:cNvSpPr>
            <a:spLocks noGrp="1"/>
          </p:cNvSpPr>
          <p:nvPr>
            <p:ph type="body" sz="quarter" idx="13" hasCustomPrompt="1"/>
          </p:nvPr>
        </p:nvSpPr>
        <p:spPr>
          <a:xfrm>
            <a:off x="4497451"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1" name="Text Placeholder 3">
            <a:extLst>
              <a:ext uri="{FF2B5EF4-FFF2-40B4-BE49-F238E27FC236}">
                <a16:creationId xmlns:a16="http://schemas.microsoft.com/office/drawing/2014/main" id="{60DF4D03-0BE8-4D31-82A4-F39747E4BF98}"/>
              </a:ext>
            </a:extLst>
          </p:cNvPr>
          <p:cNvSpPr>
            <a:spLocks noGrp="1"/>
          </p:cNvSpPr>
          <p:nvPr>
            <p:ph type="body" sz="quarter" idx="14" hasCustomPrompt="1"/>
          </p:nvPr>
        </p:nvSpPr>
        <p:spPr>
          <a:xfrm>
            <a:off x="4497451"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112886E8-E82B-4DDD-A8BC-ECFC852D3930}"/>
              </a:ext>
            </a:extLst>
          </p:cNvPr>
          <p:cNvSpPr>
            <a:spLocks noGrp="1"/>
          </p:cNvSpPr>
          <p:nvPr>
            <p:ph type="body" sz="quarter" idx="15" hasCustomPrompt="1"/>
          </p:nvPr>
        </p:nvSpPr>
        <p:spPr>
          <a:xfrm>
            <a:off x="8585328"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3" name="Text Placeholder 3">
            <a:extLst>
              <a:ext uri="{FF2B5EF4-FFF2-40B4-BE49-F238E27FC236}">
                <a16:creationId xmlns:a16="http://schemas.microsoft.com/office/drawing/2014/main" id="{FB202F5B-10E0-4D04-965B-2D05E3CD180C}"/>
              </a:ext>
            </a:extLst>
          </p:cNvPr>
          <p:cNvSpPr>
            <a:spLocks noGrp="1"/>
          </p:cNvSpPr>
          <p:nvPr>
            <p:ph type="body" sz="quarter" idx="16" hasCustomPrompt="1"/>
          </p:nvPr>
        </p:nvSpPr>
        <p:spPr>
          <a:xfrm>
            <a:off x="8585328"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13" name="Footer Placeholder 6">
            <a:extLst>
              <a:ext uri="{FF2B5EF4-FFF2-40B4-BE49-F238E27FC236}">
                <a16:creationId xmlns:a16="http://schemas.microsoft.com/office/drawing/2014/main" id="{6B25A7F6-703D-4F00-A0EC-1566C7F2D3DB}"/>
              </a:ext>
            </a:extLst>
          </p:cNvPr>
          <p:cNvSpPr>
            <a:spLocks noGrp="1"/>
          </p:cNvSpPr>
          <p:nvPr>
            <p:ph type="ftr" sz="quarter" idx="17"/>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26FD1142-0F2D-45CB-946D-E52751A238A6}"/>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33236912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Option 7">
    <p:spTree>
      <p:nvGrpSpPr>
        <p:cNvPr id="1" name=""/>
        <p:cNvGrpSpPr/>
        <p:nvPr/>
      </p:nvGrpSpPr>
      <p:grpSpPr>
        <a:xfrm>
          <a:off x="0" y="0"/>
          <a:ext cx="0" cy="0"/>
          <a:chOff x="0" y="0"/>
          <a:chExt cx="0" cy="0"/>
        </a:xfrm>
      </p:grpSpPr>
      <p:sp>
        <p:nvSpPr>
          <p:cNvPr id="16" name="Text Placeholder 41">
            <a:extLst>
              <a:ext uri="{FF2B5EF4-FFF2-40B4-BE49-F238E27FC236}">
                <a16:creationId xmlns:a16="http://schemas.microsoft.com/office/drawing/2014/main" id="{9DFDC4DC-01F9-4BD6-BF0E-69725B783A06}"/>
              </a:ext>
            </a:extLst>
          </p:cNvPr>
          <p:cNvSpPr>
            <a:spLocks noGrp="1"/>
          </p:cNvSpPr>
          <p:nvPr>
            <p:ph type="body" sz="quarter" idx="25" hasCustomPrompt="1"/>
          </p:nvPr>
        </p:nvSpPr>
        <p:spPr>
          <a:xfrm>
            <a:off x="381000"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7" name="Text Placeholder 41">
            <a:extLst>
              <a:ext uri="{FF2B5EF4-FFF2-40B4-BE49-F238E27FC236}">
                <a16:creationId xmlns:a16="http://schemas.microsoft.com/office/drawing/2014/main" id="{24432DF7-B547-40FF-A825-45A78D2CB852}"/>
              </a:ext>
            </a:extLst>
          </p:cNvPr>
          <p:cNvSpPr>
            <a:spLocks noGrp="1"/>
          </p:cNvSpPr>
          <p:nvPr>
            <p:ph type="body" sz="quarter" idx="24" hasCustomPrompt="1"/>
          </p:nvPr>
        </p:nvSpPr>
        <p:spPr>
          <a:xfrm>
            <a:off x="381000"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Text Placeholder 41">
            <a:extLst>
              <a:ext uri="{FF2B5EF4-FFF2-40B4-BE49-F238E27FC236}">
                <a16:creationId xmlns:a16="http://schemas.microsoft.com/office/drawing/2014/main" id="{233FEC15-78F4-43A2-A63C-053354C12341}"/>
              </a:ext>
            </a:extLst>
          </p:cNvPr>
          <p:cNvSpPr>
            <a:spLocks noGrp="1"/>
          </p:cNvSpPr>
          <p:nvPr>
            <p:ph type="body" sz="quarter" idx="36" hasCustomPrompt="1"/>
          </p:nvPr>
        </p:nvSpPr>
        <p:spPr>
          <a:xfrm>
            <a:off x="3243456"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9" name="Text Placeholder 41">
            <a:extLst>
              <a:ext uri="{FF2B5EF4-FFF2-40B4-BE49-F238E27FC236}">
                <a16:creationId xmlns:a16="http://schemas.microsoft.com/office/drawing/2014/main" id="{5EA5DC18-5421-48CE-8B85-A27A2B4A5041}"/>
              </a:ext>
            </a:extLst>
          </p:cNvPr>
          <p:cNvSpPr>
            <a:spLocks noGrp="1"/>
          </p:cNvSpPr>
          <p:nvPr>
            <p:ph type="body" sz="quarter" idx="37" hasCustomPrompt="1"/>
          </p:nvPr>
        </p:nvSpPr>
        <p:spPr>
          <a:xfrm>
            <a:off x="3243456"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0" name="Text Placeholder 41">
            <a:extLst>
              <a:ext uri="{FF2B5EF4-FFF2-40B4-BE49-F238E27FC236}">
                <a16:creationId xmlns:a16="http://schemas.microsoft.com/office/drawing/2014/main" id="{B0E58F9C-D684-471B-BFF1-044DDB7AB07F}"/>
              </a:ext>
            </a:extLst>
          </p:cNvPr>
          <p:cNvSpPr>
            <a:spLocks noGrp="1"/>
          </p:cNvSpPr>
          <p:nvPr>
            <p:ph type="body" sz="quarter" idx="38" hasCustomPrompt="1"/>
          </p:nvPr>
        </p:nvSpPr>
        <p:spPr>
          <a:xfrm>
            <a:off x="6105912"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1" name="Text Placeholder 41">
            <a:extLst>
              <a:ext uri="{FF2B5EF4-FFF2-40B4-BE49-F238E27FC236}">
                <a16:creationId xmlns:a16="http://schemas.microsoft.com/office/drawing/2014/main" id="{4FEA6FC0-ADA0-43DC-9D26-5E114F073723}"/>
              </a:ext>
            </a:extLst>
          </p:cNvPr>
          <p:cNvSpPr>
            <a:spLocks noGrp="1"/>
          </p:cNvSpPr>
          <p:nvPr>
            <p:ph type="body" sz="quarter" idx="39" hasCustomPrompt="1"/>
          </p:nvPr>
        </p:nvSpPr>
        <p:spPr>
          <a:xfrm>
            <a:off x="6105912"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2" name="Text Placeholder 41">
            <a:extLst>
              <a:ext uri="{FF2B5EF4-FFF2-40B4-BE49-F238E27FC236}">
                <a16:creationId xmlns:a16="http://schemas.microsoft.com/office/drawing/2014/main" id="{8F8EE1D1-37AE-4F77-B057-69366C5878FE}"/>
              </a:ext>
            </a:extLst>
          </p:cNvPr>
          <p:cNvSpPr>
            <a:spLocks noGrp="1"/>
          </p:cNvSpPr>
          <p:nvPr>
            <p:ph type="body" sz="quarter" idx="40" hasCustomPrompt="1"/>
          </p:nvPr>
        </p:nvSpPr>
        <p:spPr>
          <a:xfrm>
            <a:off x="8968368"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3" name="Text Placeholder 41">
            <a:extLst>
              <a:ext uri="{FF2B5EF4-FFF2-40B4-BE49-F238E27FC236}">
                <a16:creationId xmlns:a16="http://schemas.microsoft.com/office/drawing/2014/main" id="{91797188-BDCB-4CC5-BCBE-30AD9A4C4508}"/>
              </a:ext>
            </a:extLst>
          </p:cNvPr>
          <p:cNvSpPr>
            <a:spLocks noGrp="1"/>
          </p:cNvSpPr>
          <p:nvPr>
            <p:ph type="body" sz="quarter" idx="41" hasCustomPrompt="1"/>
          </p:nvPr>
        </p:nvSpPr>
        <p:spPr>
          <a:xfrm>
            <a:off x="8968368"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3" name="Footer Placeholder 6">
            <a:extLst>
              <a:ext uri="{FF2B5EF4-FFF2-40B4-BE49-F238E27FC236}">
                <a16:creationId xmlns:a16="http://schemas.microsoft.com/office/drawing/2014/main" id="{9D5BE5DC-7FFD-494C-891B-8A475F26F4E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3A863DAF-BB89-4865-8063-7F6B6BAB4533}"/>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5" name="Title Placeholder 1">
            <a:extLst>
              <a:ext uri="{FF2B5EF4-FFF2-40B4-BE49-F238E27FC236}">
                <a16:creationId xmlns:a16="http://schemas.microsoft.com/office/drawing/2014/main" id="{C770A387-6C5D-4E48-960C-8587FDB8AC83}"/>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406299295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People opt 2">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E061C87-E253-4832-BFB5-F70B539C6454}"/>
              </a:ext>
            </a:extLst>
          </p:cNvPr>
          <p:cNvSpPr>
            <a:spLocks noGrp="1"/>
          </p:cNvSpPr>
          <p:nvPr>
            <p:ph type="pic" sz="quarter" idx="12" hasCustomPrompt="1"/>
          </p:nvPr>
        </p:nvSpPr>
        <p:spPr>
          <a:xfrm>
            <a:off x="1147889"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2" name="Picture Placeholder 6">
            <a:extLst>
              <a:ext uri="{FF2B5EF4-FFF2-40B4-BE49-F238E27FC236}">
                <a16:creationId xmlns:a16="http://schemas.microsoft.com/office/drawing/2014/main" id="{9A86D32D-DCCA-FB41-AD6B-6114273CE677}"/>
              </a:ext>
            </a:extLst>
          </p:cNvPr>
          <p:cNvSpPr>
            <a:spLocks noGrp="1"/>
          </p:cNvSpPr>
          <p:nvPr>
            <p:ph type="pic" sz="quarter" idx="38" hasCustomPrompt="1"/>
          </p:nvPr>
        </p:nvSpPr>
        <p:spPr>
          <a:xfrm>
            <a:off x="3815262"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4" name="Picture Placeholder 6">
            <a:extLst>
              <a:ext uri="{FF2B5EF4-FFF2-40B4-BE49-F238E27FC236}">
                <a16:creationId xmlns:a16="http://schemas.microsoft.com/office/drawing/2014/main" id="{B3FA79AB-3280-3942-8811-1F447CF932F4}"/>
              </a:ext>
            </a:extLst>
          </p:cNvPr>
          <p:cNvSpPr>
            <a:spLocks noGrp="1"/>
          </p:cNvSpPr>
          <p:nvPr>
            <p:ph type="pic" sz="quarter" idx="40" hasCustomPrompt="1"/>
          </p:nvPr>
        </p:nvSpPr>
        <p:spPr>
          <a:xfrm>
            <a:off x="6482635"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7" name="Picture Placeholder 6">
            <a:extLst>
              <a:ext uri="{FF2B5EF4-FFF2-40B4-BE49-F238E27FC236}">
                <a16:creationId xmlns:a16="http://schemas.microsoft.com/office/drawing/2014/main" id="{F226A25B-26CF-1C41-961E-12B3F363E009}"/>
              </a:ext>
            </a:extLst>
          </p:cNvPr>
          <p:cNvSpPr>
            <a:spLocks noGrp="1"/>
          </p:cNvSpPr>
          <p:nvPr>
            <p:ph type="pic" sz="quarter" idx="42" hasCustomPrompt="1"/>
          </p:nvPr>
        </p:nvSpPr>
        <p:spPr>
          <a:xfrm>
            <a:off x="9150007"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8" name="Title 1">
            <a:extLst>
              <a:ext uri="{FF2B5EF4-FFF2-40B4-BE49-F238E27FC236}">
                <a16:creationId xmlns:a16="http://schemas.microsoft.com/office/drawing/2014/main" id="{06B7DA53-39E1-40DB-8E3D-AC55EE3B9DC3}"/>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13" name="Footer Placeholder 6">
            <a:extLst>
              <a:ext uri="{FF2B5EF4-FFF2-40B4-BE49-F238E27FC236}">
                <a16:creationId xmlns:a16="http://schemas.microsoft.com/office/drawing/2014/main" id="{29D22D92-75BB-4297-B843-557296E6CB8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E4BED6B8-7C00-4120-ABBA-D82093551AC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32" name="Text Placeholder 41">
            <a:extLst>
              <a:ext uri="{FF2B5EF4-FFF2-40B4-BE49-F238E27FC236}">
                <a16:creationId xmlns:a16="http://schemas.microsoft.com/office/drawing/2014/main" id="{7E68CA9F-EC78-418D-9A6B-0239F68A44BC}"/>
              </a:ext>
            </a:extLst>
          </p:cNvPr>
          <p:cNvSpPr>
            <a:spLocks noGrp="1"/>
          </p:cNvSpPr>
          <p:nvPr>
            <p:ph type="body" sz="quarter" idx="52" hasCustomPrompt="1"/>
          </p:nvPr>
        </p:nvSpPr>
        <p:spPr>
          <a:xfrm>
            <a:off x="989295"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3" name="Text Placeholder 41">
            <a:extLst>
              <a:ext uri="{FF2B5EF4-FFF2-40B4-BE49-F238E27FC236}">
                <a16:creationId xmlns:a16="http://schemas.microsoft.com/office/drawing/2014/main" id="{9FBF1373-D4D2-4CA6-A203-BB25B6AE2313}"/>
              </a:ext>
            </a:extLst>
          </p:cNvPr>
          <p:cNvSpPr>
            <a:spLocks noGrp="1"/>
          </p:cNvSpPr>
          <p:nvPr>
            <p:ph type="body" sz="quarter" idx="53" hasCustomPrompt="1"/>
          </p:nvPr>
        </p:nvSpPr>
        <p:spPr>
          <a:xfrm>
            <a:off x="3656667"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5" name="Text Placeholder 41">
            <a:extLst>
              <a:ext uri="{FF2B5EF4-FFF2-40B4-BE49-F238E27FC236}">
                <a16:creationId xmlns:a16="http://schemas.microsoft.com/office/drawing/2014/main" id="{E87B3F04-4595-45EE-8C80-2D66D058FFB2}"/>
              </a:ext>
            </a:extLst>
          </p:cNvPr>
          <p:cNvSpPr>
            <a:spLocks noGrp="1"/>
          </p:cNvSpPr>
          <p:nvPr>
            <p:ph type="body" sz="quarter" idx="54" hasCustomPrompt="1"/>
          </p:nvPr>
        </p:nvSpPr>
        <p:spPr>
          <a:xfrm>
            <a:off x="6324039"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6" name="Text Placeholder 41">
            <a:extLst>
              <a:ext uri="{FF2B5EF4-FFF2-40B4-BE49-F238E27FC236}">
                <a16:creationId xmlns:a16="http://schemas.microsoft.com/office/drawing/2014/main" id="{FAFD4B38-A351-4DBA-B2B5-067F273948E8}"/>
              </a:ext>
            </a:extLst>
          </p:cNvPr>
          <p:cNvSpPr>
            <a:spLocks noGrp="1"/>
          </p:cNvSpPr>
          <p:nvPr>
            <p:ph type="body" sz="quarter" idx="55" hasCustomPrompt="1"/>
          </p:nvPr>
        </p:nvSpPr>
        <p:spPr>
          <a:xfrm>
            <a:off x="8991412"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Tree>
    <p:extLst>
      <p:ext uri="{BB962C8B-B14F-4D97-AF65-F5344CB8AC3E}">
        <p14:creationId xmlns:p14="http://schemas.microsoft.com/office/powerpoint/2010/main" val="412379296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able and copy">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2756647"/>
            <a:ext cx="11430000" cy="3404441"/>
          </a:xfrm>
        </p:spPr>
        <p:txBody>
          <a:bodyPr anchor="ctr">
            <a:normAutofit/>
          </a:bodyPr>
          <a:lstStyle>
            <a:lvl1pPr algn="ctr">
              <a:defRPr sz="1200" b="0">
                <a:latin typeface="+mn-lt"/>
              </a:defRPr>
            </a:lvl1pPr>
          </a:lstStyle>
          <a:p>
            <a:r>
              <a:rPr lang="en-US" dirty="0"/>
              <a:t>Click icon to add table</a:t>
            </a:r>
            <a:endParaRPr lang="en-GB" dirty="0"/>
          </a:p>
        </p:txBody>
      </p:sp>
      <p:sp>
        <p:nvSpPr>
          <p:cNvPr id="8" name="Text Placeholder 41">
            <a:extLst>
              <a:ext uri="{FF2B5EF4-FFF2-40B4-BE49-F238E27FC236}">
                <a16:creationId xmlns:a16="http://schemas.microsoft.com/office/drawing/2014/main" id="{675CFBC7-8550-4627-B678-91E938DCAAF1}"/>
              </a:ext>
            </a:extLst>
          </p:cNvPr>
          <p:cNvSpPr>
            <a:spLocks noGrp="1"/>
          </p:cNvSpPr>
          <p:nvPr>
            <p:ph type="body" sz="quarter" idx="23" hasCustomPrompt="1"/>
          </p:nvPr>
        </p:nvSpPr>
        <p:spPr>
          <a:xfrm>
            <a:off x="381000" y="1943955"/>
            <a:ext cx="11430000" cy="631158"/>
          </a:xfrm>
        </p:spPr>
        <p:txBody>
          <a:bodyPr wrap="square" tIns="0" bIns="0">
            <a:normAutofit/>
          </a:bodyPr>
          <a:lstStyle>
            <a:lvl1pPr algn="l">
              <a:lnSpc>
                <a:spcPct val="100000"/>
              </a:lnSpc>
              <a:spcBef>
                <a:spcPts val="0"/>
              </a:spcBef>
              <a:spcAft>
                <a:spcPts val="0"/>
              </a:spcAft>
              <a:defRPr lang="en-US" sz="18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Tree>
    <p:extLst>
      <p:ext uri="{BB962C8B-B14F-4D97-AF65-F5344CB8AC3E}">
        <p14:creationId xmlns:p14="http://schemas.microsoft.com/office/powerpoint/2010/main" val="310359530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1364265"/>
            <a:ext cx="11430000" cy="4796823"/>
          </a:xfrm>
        </p:spPr>
        <p:txBody>
          <a:bodyPr anchor="ctr">
            <a:normAutofit/>
          </a:bodyPr>
          <a:lstStyle>
            <a:lvl1pPr algn="ctr">
              <a:defRPr sz="1200" b="0">
                <a:latin typeface="+mn-lt"/>
              </a:defRPr>
            </a:lvl1pPr>
          </a:lstStyle>
          <a:p>
            <a:r>
              <a:rPr lang="en-US" dirty="0"/>
              <a:t>Click icon to add table</a:t>
            </a:r>
            <a:endParaRPr lang="en-GB" dirty="0"/>
          </a:p>
        </p:txBody>
      </p:sp>
    </p:spTree>
    <p:extLst>
      <p:ext uri="{BB962C8B-B14F-4D97-AF65-F5344CB8AC3E}">
        <p14:creationId xmlns:p14="http://schemas.microsoft.com/office/powerpoint/2010/main" val="428978730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r>
              <a:rPr lang="en-US"/>
              <a:t>Click to edit Master text styles</a:t>
            </a:r>
          </a:p>
        </p:txBody>
      </p:sp>
    </p:spTree>
    <p:extLst>
      <p:ext uri="{BB962C8B-B14F-4D97-AF65-F5344CB8AC3E}">
        <p14:creationId xmlns:p14="http://schemas.microsoft.com/office/powerpoint/2010/main" val="3506925786"/>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Slide opt 4">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a:t>Insert title at 36pt, min 30pt</a:t>
            </a:r>
          </a:p>
        </p:txBody>
      </p:sp>
    </p:spTree>
    <p:extLst>
      <p:ext uri="{BB962C8B-B14F-4D97-AF65-F5344CB8AC3E}">
        <p14:creationId xmlns:p14="http://schemas.microsoft.com/office/powerpoint/2010/main" val="2009770318"/>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copyrights">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0404CCCA-4129-4663-91C0-1D86079B0986}"/>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5" name="Slide Number Placeholder 9">
            <a:extLst>
              <a:ext uri="{FF2B5EF4-FFF2-40B4-BE49-F238E27FC236}">
                <a16:creationId xmlns:a16="http://schemas.microsoft.com/office/drawing/2014/main" id="{F848CCB8-4740-4B43-BCEF-5A546C119520}"/>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4828157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Purple blank">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17" name="Footer Placeholder 1">
            <a:extLst>
              <a:ext uri="{FF2B5EF4-FFF2-40B4-BE49-F238E27FC236}">
                <a16:creationId xmlns:a16="http://schemas.microsoft.com/office/drawing/2014/main" id="{77305F73-3F10-4781-AEC1-D21924227102}"/>
              </a:ext>
            </a:extLst>
          </p:cNvPr>
          <p:cNvSpPr txBox="1">
            <a:spLocks/>
          </p:cNvSpPr>
          <p:nvPr/>
        </p:nvSpPr>
        <p:spPr>
          <a:xfrm>
            <a:off x="355739" y="6537399"/>
            <a:ext cx="4141956" cy="161962"/>
          </a:xfrm>
          <a:prstGeom prst="rect">
            <a:avLst/>
          </a:prstGeom>
        </p:spPr>
        <p:txBody>
          <a:bodyPr vert="horz" wrap="square" lIns="0" tIns="60930" rIns="0" bIns="60930" numCol="1" anchor="ctr" anchorCtr="0" compatLnSpc="1">
            <a:prstTxWarp prst="textNoShape">
              <a:avLst/>
            </a:prstTxWarp>
            <a:noAutofit/>
          </a:bodyPr>
          <a:lstStyle>
            <a:defPPr>
              <a:defRPr lang="en-US"/>
            </a:defPPr>
            <a:lvl1pPr algn="l" rtl="0" fontAlgn="base">
              <a:spcBef>
                <a:spcPct val="0"/>
              </a:spcBef>
              <a:spcAft>
                <a:spcPct val="0"/>
              </a:spcAft>
              <a:defRPr lang="en-US" sz="800" b="0" i="0" kern="120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a:lstStyle>
          <a:p>
            <a:r>
              <a:rPr lang="en-GB" sz="800" dirty="0">
                <a:solidFill>
                  <a:schemeClr val="bg1">
                    <a:alpha val="50000"/>
                  </a:schemeClr>
                </a:solidFill>
              </a:rPr>
              <a:t>Copyright © 2020 Accenture. All rights reserved.</a:t>
            </a:r>
            <a:endParaRPr lang="en-AU" sz="800" dirty="0">
              <a:solidFill>
                <a:schemeClr val="bg1">
                  <a:alpha val="50000"/>
                </a:schemeClr>
              </a:solidFill>
            </a:endParaRPr>
          </a:p>
        </p:txBody>
      </p:sp>
    </p:spTree>
    <p:extLst>
      <p:ext uri="{BB962C8B-B14F-4D97-AF65-F5344CB8AC3E}">
        <p14:creationId xmlns:p14="http://schemas.microsoft.com/office/powerpoint/2010/main" val="3195989512"/>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Best Master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F3EA-AEAF-C548-BD0C-AD254597237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DD816B7-92BE-DC41-81A1-B94823C5B247}"/>
              </a:ext>
            </a:extLst>
          </p:cNvPr>
          <p:cNvSpPr>
            <a:spLocks noGrp="1"/>
          </p:cNvSpPr>
          <p:nvPr>
            <p:ph sz="quarter" idx="10"/>
          </p:nvPr>
        </p:nvSpPr>
        <p:spPr>
          <a:xfrm>
            <a:off x="344488" y="1219200"/>
            <a:ext cx="11510962" cy="483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DC4E4E6-DE9C-9B41-A230-03A839F777D8}"/>
              </a:ext>
            </a:extLst>
          </p:cNvPr>
          <p:cNvSpPr txBox="1">
            <a:spLocks/>
          </p:cNvSpPr>
          <p:nvPr/>
        </p:nvSpPr>
        <p:spPr>
          <a:xfrm>
            <a:off x="381002" y="6519009"/>
            <a:ext cx="5714999" cy="206375"/>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2019 Accenture. All rights reserved.</a:t>
            </a:r>
          </a:p>
        </p:txBody>
      </p:sp>
    </p:spTree>
    <p:extLst>
      <p:ext uri="{BB962C8B-B14F-4D97-AF65-F5344CB8AC3E}">
        <p14:creationId xmlns:p14="http://schemas.microsoft.com/office/powerpoint/2010/main" val="342063165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
        <p:nvSpPr>
          <p:cNvPr id="11" name="Footer Placeholder 6">
            <a:extLst>
              <a:ext uri="{FF2B5EF4-FFF2-40B4-BE49-F238E27FC236}">
                <a16:creationId xmlns:a16="http://schemas.microsoft.com/office/drawing/2014/main" id="{91C0017E-4521-4295-9033-A405A2FA81F4}"/>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2" name="Slide Number Placeholder 9">
            <a:extLst>
              <a:ext uri="{FF2B5EF4-FFF2-40B4-BE49-F238E27FC236}">
                <a16:creationId xmlns:a16="http://schemas.microsoft.com/office/drawing/2014/main" id="{43EE0978-DC3A-4D86-83BC-C2F42549CA64}"/>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pic>
        <p:nvPicPr>
          <p:cNvPr id="5" name="Picture 4" descr="A picture containing drawing, clock&#10;&#10;Description automatically generated">
            <a:extLst>
              <a:ext uri="{FF2B5EF4-FFF2-40B4-BE49-F238E27FC236}">
                <a16:creationId xmlns:a16="http://schemas.microsoft.com/office/drawing/2014/main" id="{74B3D656-7B78-4FFC-881D-DD01CAC5AD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146195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7" name="Footer Placeholder 6">
            <a:extLst>
              <a:ext uri="{FF2B5EF4-FFF2-40B4-BE49-F238E27FC236}">
                <a16:creationId xmlns:a16="http://schemas.microsoft.com/office/drawing/2014/main" id="{89318202-F5EF-4F94-A2FB-2820022F3F3D}"/>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bg1">
                    <a:alpha val="40000"/>
                  </a:schemeClr>
                </a:solidFill>
              </a:defRPr>
            </a:lvl1pPr>
          </a:lstStyle>
          <a:p>
            <a:r>
              <a:rPr lang="en-US" dirty="0"/>
              <a:t>Copyright © 2020 Accenture. All rights reserved.</a:t>
            </a:r>
          </a:p>
        </p:txBody>
      </p:sp>
      <p:pic>
        <p:nvPicPr>
          <p:cNvPr id="8" name="Picture 7" descr="A picture containing drawing, clock&#10;&#10;Description automatically generated">
            <a:extLst>
              <a:ext uri="{FF2B5EF4-FFF2-40B4-BE49-F238E27FC236}">
                <a16:creationId xmlns:a16="http://schemas.microsoft.com/office/drawing/2014/main" id="{3337CFDD-6A45-4B8B-A44A-81963DA234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668701291"/>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8/12/2026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12-08-2026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12-08-2026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12-08-2026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3626201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690017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34886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3400974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42597572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14456803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58184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3238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20805212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mj-lt"/>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04894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939088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Tree>
    <p:extLst>
      <p:ext uri="{BB962C8B-B14F-4D97-AF65-F5344CB8AC3E}">
        <p14:creationId xmlns:p14="http://schemas.microsoft.com/office/powerpoint/2010/main" val="37650105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607564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41355404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844544960"/>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3304422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02251960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40995605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2976067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46719337"/>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4471621"/>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3652716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97667958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544592518"/>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04127054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3626589434"/>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6044672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28959760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895925855"/>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25582854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892450881"/>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232220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91205097"/>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272842032"/>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8418131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2145526212"/>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2500144931"/>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Graphik" panose="020B0503030202060203" pitchFamily="34" charset="77"/>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1143801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52469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333241912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55691144"/>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2083825050"/>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035112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4781824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456325115"/>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5148558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238254043"/>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751328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4208589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682128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357141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210808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9475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628324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872060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656919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9530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Relationship Id="rId16" Type="http://schemas.openxmlformats.org/officeDocument/2006/relationships/slideLayout" Target="../slideLayouts/slideLayout25.xml"/><Relationship Id="rId17" Type="http://schemas.openxmlformats.org/officeDocument/2006/relationships/slideLayout" Target="../slideLayouts/slideLayout26.xml"/><Relationship Id="rId18" Type="http://schemas.openxmlformats.org/officeDocument/2006/relationships/slideLayout" Target="../slideLayouts/slideLayout27.xml"/><Relationship Id="rId19" Type="http://schemas.openxmlformats.org/officeDocument/2006/relationships/slideLayout" Target="../slideLayouts/slideLayout28.xml"/><Relationship Id="rId20" Type="http://schemas.openxmlformats.org/officeDocument/2006/relationships/theme" Target="../theme/theme2.xml"/><Relationship Id="rId21" Type="http://schemas.openxmlformats.org/officeDocument/2006/relationships/image" Target="../media/image7.png"/><Relationship Id="rId22" Type="http://schemas.openxmlformats.org/officeDocument/2006/relationships/image" Target="../media/image8.png"/><Relationship Id="rId23" Type="http://schemas.openxmlformats.org/officeDocument/2006/relationships/image" Target="../media/image9.png"/><Relationship Id="rId24" Type="http://schemas.openxmlformats.org/officeDocument/2006/relationships/image" Target="../media/image10.png"/><Relationship Id="rId25" Type="http://schemas.openxmlformats.org/officeDocument/2006/relationships/image" Target="../media/image11.png"/><Relationship Id="rId26" Type="http://schemas.openxmlformats.org/officeDocument/2006/relationships/image" Target="../media/image12.png"/><Relationship Id="rId27" Type="http://schemas.openxmlformats.org/officeDocument/2006/relationships/image" Target="../media/image13.png"/><Relationship Id="rId28" Type="http://schemas.openxmlformats.org/officeDocument/2006/relationships/image" Target="../media/image14.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Relationship Id="rId16" Type="http://schemas.openxmlformats.org/officeDocument/2006/relationships/slideLayout" Target="../slideLayouts/slideLayout61.xml"/><Relationship Id="rId17" Type="http://schemas.openxmlformats.org/officeDocument/2006/relationships/slideLayout" Target="../slideLayouts/slideLayout62.xml"/><Relationship Id="rId18" Type="http://schemas.openxmlformats.org/officeDocument/2006/relationships/slideLayout" Target="../slideLayouts/slideLayout63.xml"/><Relationship Id="rId19" Type="http://schemas.openxmlformats.org/officeDocument/2006/relationships/slideLayout" Target="../slideLayouts/slideLayout64.xml"/><Relationship Id="rId20" Type="http://schemas.openxmlformats.org/officeDocument/2006/relationships/slideLayout" Target="../slideLayouts/slideLayout65.xml"/><Relationship Id="rId21" Type="http://schemas.openxmlformats.org/officeDocument/2006/relationships/slideLayout" Target="../slideLayouts/slideLayout66.xml"/><Relationship Id="rId22" Type="http://schemas.openxmlformats.org/officeDocument/2006/relationships/slideLayout" Target="../slideLayouts/slideLayout67.xml"/><Relationship Id="rId23" Type="http://schemas.openxmlformats.org/officeDocument/2006/relationships/slideLayout" Target="../slideLayouts/slideLayout68.xml"/><Relationship Id="rId24" Type="http://schemas.openxmlformats.org/officeDocument/2006/relationships/slideLayout" Target="../slideLayouts/slideLayout69.xml"/><Relationship Id="rId25" Type="http://schemas.openxmlformats.org/officeDocument/2006/relationships/slideLayout" Target="../slideLayouts/slideLayout70.xml"/><Relationship Id="rId26" Type="http://schemas.openxmlformats.org/officeDocument/2006/relationships/slideLayout" Target="../slideLayouts/slideLayout71.xml"/><Relationship Id="rId27" Type="http://schemas.openxmlformats.org/officeDocument/2006/relationships/slideLayout" Target="../slideLayouts/slideLayout72.xml"/><Relationship Id="rId28" Type="http://schemas.openxmlformats.org/officeDocument/2006/relationships/slideLayout" Target="../slideLayouts/slideLayout73.xml"/><Relationship Id="rId29" Type="http://schemas.openxmlformats.org/officeDocument/2006/relationships/slideLayout" Target="../slideLayouts/slideLayout74.xml"/><Relationship Id="rId30" Type="http://schemas.openxmlformats.org/officeDocument/2006/relationships/slideLayout" Target="../slideLayouts/slideLayout75.xml"/><Relationship Id="rId31" Type="http://schemas.openxmlformats.org/officeDocument/2006/relationships/slideLayout" Target="../slideLayouts/slideLayout76.xml"/><Relationship Id="rId32" Type="http://schemas.openxmlformats.org/officeDocument/2006/relationships/slideLayout" Target="../slideLayouts/slideLayout77.xml"/><Relationship Id="rId33" Type="http://schemas.openxmlformats.org/officeDocument/2006/relationships/slideLayout" Target="../slideLayouts/slideLayout78.xml"/><Relationship Id="rId34" Type="http://schemas.openxmlformats.org/officeDocument/2006/relationships/slideLayout" Target="../slideLayouts/slideLayout79.xml"/><Relationship Id="rId35" Type="http://schemas.openxmlformats.org/officeDocument/2006/relationships/slideLayout" Target="../slideLayouts/slideLayout80.xml"/><Relationship Id="rId36" Type="http://schemas.openxmlformats.org/officeDocument/2006/relationships/slideLayout" Target="../slideLayouts/slideLayout81.xml"/><Relationship Id="rId37" Type="http://schemas.openxmlformats.org/officeDocument/2006/relationships/slideLayout" Target="../slideLayouts/slideLayout82.xml"/><Relationship Id="rId38" Type="http://schemas.openxmlformats.org/officeDocument/2006/relationships/slideLayout" Target="../slideLayouts/slideLayout83.xml"/><Relationship Id="rId39" Type="http://schemas.openxmlformats.org/officeDocument/2006/relationships/slideLayout" Target="../slideLayouts/slideLayout84.xml"/><Relationship Id="rId40" Type="http://schemas.openxmlformats.org/officeDocument/2006/relationships/slideLayout" Target="../slideLayouts/slideLayout85.xml"/><Relationship Id="rId41" Type="http://schemas.openxmlformats.org/officeDocument/2006/relationships/slideLayout" Target="../slideLayouts/slideLayout86.xml"/><Relationship Id="rId42" Type="http://schemas.openxmlformats.org/officeDocument/2006/relationships/slideLayout" Target="../slideLayouts/slideLayout87.xml"/><Relationship Id="rId43" Type="http://schemas.openxmlformats.org/officeDocument/2006/relationships/slideLayout" Target="../slideLayouts/slideLayout88.xml"/><Relationship Id="rId44" Type="http://schemas.openxmlformats.org/officeDocument/2006/relationships/slideLayout" Target="../slideLayouts/slideLayout89.xml"/><Relationship Id="rId45" Type="http://schemas.openxmlformats.org/officeDocument/2006/relationships/slideLayout" Target="../slideLayouts/slideLayout90.xml"/><Relationship Id="rId46" Type="http://schemas.openxmlformats.org/officeDocument/2006/relationships/slideLayout" Target="../slideLayouts/slideLayout91.xml"/><Relationship Id="rId47" Type="http://schemas.openxmlformats.org/officeDocument/2006/relationships/slideLayout" Target="../slideLayouts/slideLayout92.xml"/><Relationship Id="rId48" Type="http://schemas.openxmlformats.org/officeDocument/2006/relationships/slideLayout" Target="../slideLayouts/slideLayout93.xml"/><Relationship Id="rId49" Type="http://schemas.openxmlformats.org/officeDocument/2006/relationships/slideLayout" Target="../slideLayouts/slideLayout94.xml"/><Relationship Id="rId50" Type="http://schemas.openxmlformats.org/officeDocument/2006/relationships/slideLayout" Target="../slideLayouts/slideLayout95.xml"/><Relationship Id="rId51" Type="http://schemas.openxmlformats.org/officeDocument/2006/relationships/slideLayout" Target="../slideLayouts/slideLayout96.xml"/><Relationship Id="rId52" Type="http://schemas.openxmlformats.org/officeDocument/2006/relationships/slideLayout" Target="../slideLayouts/slideLayout97.xml"/><Relationship Id="rId53" Type="http://schemas.openxmlformats.org/officeDocument/2006/relationships/slideLayout" Target="../slideLayouts/slideLayout98.xml"/><Relationship Id="rId54" Type="http://schemas.openxmlformats.org/officeDocument/2006/relationships/slideLayout" Target="../slideLayouts/slideLayout99.xml"/><Relationship Id="rId55" Type="http://schemas.openxmlformats.org/officeDocument/2006/relationships/slideLayout" Target="../slideLayouts/slideLayout100.xml"/><Relationship Id="rId56" Type="http://schemas.openxmlformats.org/officeDocument/2006/relationships/slideLayout" Target="../slideLayouts/slideLayout101.xml"/><Relationship Id="rId57" Type="http://schemas.openxmlformats.org/officeDocument/2006/relationships/slideLayout" Target="../slideLayouts/slideLayout102.xml"/><Relationship Id="rId58"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5" name="Footer Placeholder 6">
            <a:extLst>
              <a:ext uri="{FF2B5EF4-FFF2-40B4-BE49-F238E27FC236}">
                <a16:creationId xmlns:a16="http://schemas.microsoft.com/office/drawing/2014/main" id="{6F6B3343-B4EF-4BC5-A753-D80C4EADB365}"/>
              </a:ext>
            </a:extLst>
          </p:cNvPr>
          <p:cNvSpPr>
            <a:spLocks noGrp="1"/>
          </p:cNvSpPr>
          <p:nvPr>
            <p:ph type="ftr" sz="quarter" idx="3"/>
          </p:nvPr>
        </p:nvSpPr>
        <p:spPr>
          <a:xfrm>
            <a:off x="381002" y="6519009"/>
            <a:ext cx="5714999" cy="206375"/>
          </a:xfrm>
          <a:prstGeom prst="rect">
            <a:avLst/>
          </a:prstGeom>
        </p:spPr>
        <p:txBody>
          <a:bodyPr/>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299A5035-44EB-4653-8F65-351427FC9B77}"/>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7" name="Accenture_Technology" hidden="1">
            <a:extLst>
              <a:ext uri="{FF2B5EF4-FFF2-40B4-BE49-F238E27FC236}">
                <a16:creationId xmlns:a16="http://schemas.microsoft.com/office/drawing/2014/main" id="{7F561B55-4A32-431D-8BA4-1A51234302A5}"/>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338798" y="6243985"/>
            <a:ext cx="2024293" cy="333289"/>
          </a:xfrm>
          <a:prstGeom prst="rect">
            <a:avLst/>
          </a:prstGeom>
        </p:spPr>
      </p:pic>
      <p:pic>
        <p:nvPicPr>
          <p:cNvPr id="9" name="Accenture_Strategy" hidden="1">
            <a:extLst>
              <a:ext uri="{FF2B5EF4-FFF2-40B4-BE49-F238E27FC236}">
                <a16:creationId xmlns:a16="http://schemas.microsoft.com/office/drawing/2014/main" id="{C33EDD26-4BAD-4452-B33F-48241F98D591}"/>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10" name="Accenture_Operations" hidden="1">
            <a:extLst>
              <a:ext uri="{FF2B5EF4-FFF2-40B4-BE49-F238E27FC236}">
                <a16:creationId xmlns:a16="http://schemas.microsoft.com/office/drawing/2014/main" id="{88E87CB4-5755-499D-91D5-9B8DF482A9E0}"/>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352728" y="6252513"/>
            <a:ext cx="1958068" cy="324500"/>
          </a:xfrm>
          <a:prstGeom prst="rect">
            <a:avLst/>
          </a:prstGeom>
        </p:spPr>
      </p:pic>
      <p:pic>
        <p:nvPicPr>
          <p:cNvPr id="11" name="Accenture_Mobility" hidden="1">
            <a:extLst>
              <a:ext uri="{FF2B5EF4-FFF2-40B4-BE49-F238E27FC236}">
                <a16:creationId xmlns:a16="http://schemas.microsoft.com/office/drawing/2014/main" id="{CADE9D37-50D3-4E92-9D49-2C716078D159}"/>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334963" y="6339423"/>
            <a:ext cx="2040630" cy="361414"/>
          </a:xfrm>
          <a:prstGeom prst="rect">
            <a:avLst/>
          </a:prstGeom>
        </p:spPr>
      </p:pic>
      <p:pic>
        <p:nvPicPr>
          <p:cNvPr id="12" name="Accenture_Interactive" hidden="1">
            <a:extLst>
              <a:ext uri="{FF2B5EF4-FFF2-40B4-BE49-F238E27FC236}">
                <a16:creationId xmlns:a16="http://schemas.microsoft.com/office/drawing/2014/main" id="{279B5443-5FDB-4D90-9C86-4ACF31740D66}"/>
              </a:ext>
            </a:extLst>
          </p:cNvPr>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338798" y="6341000"/>
            <a:ext cx="2041200" cy="360863"/>
          </a:xfrm>
          <a:prstGeom prst="rect">
            <a:avLst/>
          </a:prstGeom>
        </p:spPr>
      </p:pic>
      <p:pic>
        <p:nvPicPr>
          <p:cNvPr id="13" name="Accenture_Analytics" hidden="1">
            <a:extLst>
              <a:ext uri="{FF2B5EF4-FFF2-40B4-BE49-F238E27FC236}">
                <a16:creationId xmlns:a16="http://schemas.microsoft.com/office/drawing/2014/main" id="{7E3C0033-CE00-4F44-B4DA-32082D33C83C}"/>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38798" y="6338829"/>
            <a:ext cx="2023200" cy="362168"/>
          </a:xfrm>
          <a:prstGeom prst="rect">
            <a:avLst/>
          </a:prstGeom>
        </p:spPr>
      </p:pic>
      <p:pic>
        <p:nvPicPr>
          <p:cNvPr id="14" name="Accenture_Digital" hidden="1">
            <a:extLst>
              <a:ext uri="{FF2B5EF4-FFF2-40B4-BE49-F238E27FC236}">
                <a16:creationId xmlns:a16="http://schemas.microsoft.com/office/drawing/2014/main" id="{D9D2CA43-44F5-4DDC-AF71-4F5FDFF1B30C}"/>
              </a:ext>
            </a:extLst>
          </p:cNvPr>
          <p:cNvPicPr>
            <a:picLocks noChangeAspect="1"/>
          </p:cNvPicPr>
          <p:nvPr userDrawn="1"/>
        </p:nvPicPr>
        <p:blipFill>
          <a:blip r:embed="rId27" cstate="email">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15" name="Accenture_Consulting" hidden="1">
            <a:extLst>
              <a:ext uri="{FF2B5EF4-FFF2-40B4-BE49-F238E27FC236}">
                <a16:creationId xmlns:a16="http://schemas.microsoft.com/office/drawing/2014/main" id="{3344A5AB-F329-4B8E-8006-34B6E40B0028}"/>
              </a:ext>
            </a:extLst>
          </p:cNvPr>
          <p:cNvPicPr>
            <a:picLocks noChangeAspect="1"/>
          </p:cNvPicPr>
          <p:nvPr userDrawn="1"/>
        </p:nvPicPr>
        <p:blipFill>
          <a:blip r:embed="rId28" cstate="email">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spTree>
    <p:extLst>
      <p:ext uri="{BB962C8B-B14F-4D97-AF65-F5344CB8AC3E}">
        <p14:creationId xmlns:p14="http://schemas.microsoft.com/office/powerpoint/2010/main" val="27057270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hf hdr="0" ft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12-08-2026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ControlPlane</a:t>
            </a:r>
          </a:p>
        </p:txBody>
      </p:sp>
      <p:sp>
        <p:nvSpPr>
          <p:cNvPr id="3" name="Subtitle 2"/>
          <p:cNvSpPr>
            <a:spLocks noGrp="1"/>
          </p:cNvSpPr>
          <p:nvPr>
            <p:ph type="subTitle" idx="1"/>
          </p:nvPr>
        </p:nvSpPr>
        <p:spPr/>
        <p:txBody>
          <a:bodyPr/>
          <a:lstStyle/>
          <a:p>
            <a:r>
              <a:t>Business proposal · Round 2 · Problem Track 1</a:t>
            </a:r>
          </a:p>
          <a:p>
            <a:r>
              <a:t>Team Nexus, IIT Jodhpur</a:t>
            </a:r>
          </a:p>
        </p:txBody>
      </p:sp>
      <p:sp>
        <p:nvSpPr>
          <p:cNvPr id="4" name="Text Placeholder 3"/>
          <p:cNvSpPr>
            <a:spLocks noGrp="1"/>
          </p:cNvSpPr>
          <p:nvPr>
            <p:ph type="body" idx="15"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Team Nexus</a:t>
            </a:r>
          </a:p>
        </p:txBody>
      </p:sp>
      <p:sp>
        <p:nvSpPr>
          <p:cNvPr id="3" name="TextBox 2"/>
          <p:cNvSpPr txBox="1"/>
          <p:nvPr/>
        </p:nvSpPr>
        <p:spPr>
          <a:xfrm>
            <a:off x="557784" y="1060704"/>
            <a:ext cx="11064240" cy="457200"/>
          </a:xfrm>
          <a:prstGeom prst="rect">
            <a:avLst/>
          </a:prstGeom>
          <a:noFill/>
        </p:spPr>
        <p:txBody>
          <a:bodyPr wrap="square">
            <a:spAutoFit/>
          </a:bodyPr>
          <a:lstStyle/>
          <a:p>
            <a:r>
              <a:rPr sz="1250">
                <a:solidFill>
                  <a:srgbClr val="6B7782"/>
                </a:solidFill>
              </a:rPr>
              <a:t>IIT Jodhpur</a:t>
            </a:r>
          </a:p>
        </p:txBody>
      </p:sp>
      <p:sp>
        <p:nvSpPr>
          <p:cNvPr id="4" name="TextBox 3"/>
          <p:cNvSpPr txBox="1"/>
          <p:nvPr/>
        </p:nvSpPr>
        <p:spPr>
          <a:xfrm>
            <a:off x="557784" y="2103120"/>
            <a:ext cx="3657600" cy="822960"/>
          </a:xfrm>
          <a:prstGeom prst="rect">
            <a:avLst/>
          </a:prstGeom>
          <a:noFill/>
        </p:spPr>
        <p:txBody>
          <a:bodyPr wrap="square">
            <a:spAutoFit/>
          </a:bodyPr>
          <a:lstStyle/>
          <a:p>
            <a:pPr>
              <a:spcAft>
                <a:spcPts val="200"/>
              </a:spcAft>
            </a:pPr>
            <a:r>
              <a:rPr sz="1500" b="1">
                <a:solidFill>
                  <a:srgbClr val="16202B"/>
                </a:solidFill>
              </a:rPr>
              <a:t>Akshat Jain</a:t>
            </a:r>
          </a:p>
        </p:txBody>
      </p:sp>
      <p:sp>
        <p:nvSpPr>
          <p:cNvPr id="5" name="TextBox 4"/>
          <p:cNvSpPr txBox="1"/>
          <p:nvPr/>
        </p:nvSpPr>
        <p:spPr>
          <a:xfrm>
            <a:off x="4389120" y="2139696"/>
            <a:ext cx="4754880" cy="822960"/>
          </a:xfrm>
          <a:prstGeom prst="rect">
            <a:avLst/>
          </a:prstGeom>
          <a:noFill/>
        </p:spPr>
        <p:txBody>
          <a:bodyPr wrap="square">
            <a:spAutoFit/>
          </a:bodyPr>
          <a:lstStyle/>
          <a:p>
            <a:pPr>
              <a:spcAft>
                <a:spcPts val="0"/>
              </a:spcAft>
            </a:pPr>
            <a:r>
              <a:rPr sz="1200" b="0">
                <a:solidFill>
                  <a:srgbClr val="3A4652"/>
                </a:solidFill>
              </a:rPr>
              <a:t>M.Tech, Artificial Intelligence, 2027</a:t>
            </a:r>
          </a:p>
        </p:txBody>
      </p:sp>
      <p:sp>
        <p:nvSpPr>
          <p:cNvPr id="6" name="TextBox 5"/>
          <p:cNvSpPr txBox="1"/>
          <p:nvPr/>
        </p:nvSpPr>
        <p:spPr>
          <a:xfrm>
            <a:off x="9326880" y="2139696"/>
            <a:ext cx="2377440" cy="822960"/>
          </a:xfrm>
          <a:prstGeom prst="rect">
            <a:avLst/>
          </a:prstGeom>
          <a:noFill/>
        </p:spPr>
        <p:txBody>
          <a:bodyPr wrap="square">
            <a:spAutoFit/>
          </a:bodyPr>
          <a:lstStyle/>
          <a:p>
            <a:pPr>
              <a:spcAft>
                <a:spcPts val="0"/>
              </a:spcAft>
            </a:pPr>
            <a:r>
              <a:rPr sz="1150" b="1">
                <a:solidFill>
                  <a:srgbClr val="A100FF"/>
                </a:solidFill>
              </a:rPr>
              <a:t>Round 2 implementation</a:t>
            </a:r>
          </a:p>
        </p:txBody>
      </p:sp>
      <p:sp>
        <p:nvSpPr>
          <p:cNvPr id="7" name="TextBox 6"/>
          <p:cNvSpPr txBox="1"/>
          <p:nvPr/>
        </p:nvSpPr>
        <p:spPr>
          <a:xfrm>
            <a:off x="557784" y="2944368"/>
            <a:ext cx="3657600" cy="822960"/>
          </a:xfrm>
          <a:prstGeom prst="rect">
            <a:avLst/>
          </a:prstGeom>
          <a:noFill/>
        </p:spPr>
        <p:txBody>
          <a:bodyPr wrap="square">
            <a:spAutoFit/>
          </a:bodyPr>
          <a:lstStyle/>
          <a:p>
            <a:pPr>
              <a:spcAft>
                <a:spcPts val="200"/>
              </a:spcAft>
            </a:pPr>
            <a:r>
              <a:rPr sz="1500" b="1">
                <a:solidFill>
                  <a:srgbClr val="16202B"/>
                </a:solidFill>
              </a:rPr>
              <a:t>Aditya Pratap Singh</a:t>
            </a:r>
          </a:p>
        </p:txBody>
      </p:sp>
      <p:sp>
        <p:nvSpPr>
          <p:cNvPr id="8" name="TextBox 7"/>
          <p:cNvSpPr txBox="1"/>
          <p:nvPr/>
        </p:nvSpPr>
        <p:spPr>
          <a:xfrm>
            <a:off x="4389120" y="2980944"/>
            <a:ext cx="4754880" cy="822960"/>
          </a:xfrm>
          <a:prstGeom prst="rect">
            <a:avLst/>
          </a:prstGeom>
          <a:noFill/>
        </p:spPr>
        <p:txBody>
          <a:bodyPr wrap="square">
            <a:spAutoFit/>
          </a:bodyPr>
          <a:lstStyle/>
          <a:p>
            <a:pPr>
              <a:spcAft>
                <a:spcPts val="0"/>
              </a:spcAft>
            </a:pPr>
            <a:r>
              <a:rPr sz="1200" b="0">
                <a:solidFill>
                  <a:srgbClr val="3A4652"/>
                </a:solidFill>
              </a:rPr>
              <a:t>M.Tech, Artificial Intelligence, 2027</a:t>
            </a:r>
          </a:p>
        </p:txBody>
      </p:sp>
      <p:sp>
        <p:nvSpPr>
          <p:cNvPr id="9" name="TextBox 8"/>
          <p:cNvSpPr txBox="1"/>
          <p:nvPr/>
        </p:nvSpPr>
        <p:spPr>
          <a:xfrm>
            <a:off x="557784" y="3785615"/>
            <a:ext cx="3657600" cy="822960"/>
          </a:xfrm>
          <a:prstGeom prst="rect">
            <a:avLst/>
          </a:prstGeom>
          <a:noFill/>
        </p:spPr>
        <p:txBody>
          <a:bodyPr wrap="square">
            <a:spAutoFit/>
          </a:bodyPr>
          <a:lstStyle/>
          <a:p>
            <a:pPr>
              <a:spcAft>
                <a:spcPts val="200"/>
              </a:spcAft>
            </a:pPr>
            <a:r>
              <a:rPr sz="1500" b="1">
                <a:solidFill>
                  <a:srgbClr val="16202B"/>
                </a:solidFill>
              </a:rPr>
              <a:t>Arnesh Sanjeev Singh</a:t>
            </a:r>
          </a:p>
        </p:txBody>
      </p:sp>
      <p:sp>
        <p:nvSpPr>
          <p:cNvPr id="10" name="TextBox 9"/>
          <p:cNvSpPr txBox="1"/>
          <p:nvPr/>
        </p:nvSpPr>
        <p:spPr>
          <a:xfrm>
            <a:off x="4389120" y="3822191"/>
            <a:ext cx="4754880" cy="822960"/>
          </a:xfrm>
          <a:prstGeom prst="rect">
            <a:avLst/>
          </a:prstGeom>
          <a:noFill/>
        </p:spPr>
        <p:txBody>
          <a:bodyPr wrap="square">
            <a:spAutoFit/>
          </a:bodyPr>
          <a:lstStyle/>
          <a:p>
            <a:pPr>
              <a:spcAft>
                <a:spcPts val="0"/>
              </a:spcAft>
            </a:pPr>
            <a:r>
              <a:rPr sz="1200" b="0">
                <a:solidFill>
                  <a:srgbClr val="3A4652"/>
                </a:solidFill>
              </a:rPr>
              <a:t>M.Tech, Computer Science, 2027</a:t>
            </a:r>
          </a:p>
        </p:txBody>
      </p:sp>
      <p:sp>
        <p:nvSpPr>
          <p:cNvPr id="11" name="TextBox 10"/>
          <p:cNvSpPr txBox="1"/>
          <p:nvPr/>
        </p:nvSpPr>
        <p:spPr>
          <a:xfrm>
            <a:off x="557784" y="4937760"/>
            <a:ext cx="11064240" cy="914400"/>
          </a:xfrm>
          <a:prstGeom prst="rect">
            <a:avLst/>
          </a:prstGeom>
          <a:noFill/>
        </p:spPr>
        <p:txBody>
          <a:bodyPr wrap="square">
            <a:spAutoFit/>
          </a:bodyPr>
          <a:lstStyle/>
          <a:p>
            <a:pPr>
              <a:spcAft>
                <a:spcPts val="0"/>
              </a:spcAft>
            </a:pPr>
            <a:r>
              <a:rPr sz="1200" b="0">
                <a:solidFill>
                  <a:srgbClr val="6B7782"/>
                </a:solidFill>
              </a:rPr>
              <a:t>Problem Track 1 — ControlPlane.ai · Accenture Innovation Challenge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The problem</a:t>
            </a:r>
          </a:p>
        </p:txBody>
      </p:sp>
      <p:sp>
        <p:nvSpPr>
          <p:cNvPr id="3" name="TextBox 2"/>
          <p:cNvSpPr txBox="1"/>
          <p:nvPr/>
        </p:nvSpPr>
        <p:spPr>
          <a:xfrm>
            <a:off x="557784" y="1060704"/>
            <a:ext cx="11064240" cy="457200"/>
          </a:xfrm>
          <a:prstGeom prst="rect">
            <a:avLst/>
          </a:prstGeom>
          <a:noFill/>
        </p:spPr>
        <p:txBody>
          <a:bodyPr wrap="square">
            <a:spAutoFit/>
          </a:bodyPr>
          <a:lstStyle/>
          <a:p>
            <a:r>
              <a:rPr sz="1250">
                <a:solidFill>
                  <a:srgbClr val="6B7782"/>
                </a:solidFill>
              </a:rPr>
              <a:t>One wrong sentence, and the loop that should catch it closes two weeks later.</a:t>
            </a:r>
          </a:p>
        </p:txBody>
      </p:sp>
      <p:sp>
        <p:nvSpPr>
          <p:cNvPr id="4" name="TextBox 3"/>
          <p:cNvSpPr txBox="1"/>
          <p:nvPr/>
        </p:nvSpPr>
        <p:spPr>
          <a:xfrm>
            <a:off x="557784" y="1783080"/>
            <a:ext cx="5486400" cy="4023360"/>
          </a:xfrm>
          <a:prstGeom prst="rect">
            <a:avLst/>
          </a:prstGeom>
          <a:noFill/>
        </p:spPr>
        <p:txBody>
          <a:bodyPr wrap="square">
            <a:spAutoFit/>
          </a:bodyPr>
          <a:lstStyle/>
          <a:p>
            <a:pPr>
              <a:spcAft>
                <a:spcPts val="600"/>
              </a:spcAft>
            </a:pPr>
            <a:r>
              <a:rPr sz="1400" b="1">
                <a:solidFill>
                  <a:srgbClr val="16202B"/>
                </a:solidFill>
              </a:rPr>
              <a:t>The policy document says room rent is capped at 1 percent.</a:t>
            </a:r>
          </a:p>
          <a:p>
            <a:pPr>
              <a:spcAft>
                <a:spcPts val="1400"/>
              </a:spcAft>
            </a:pPr>
            <a:r>
              <a:rPr sz="1400" b="1">
                <a:solidFill>
                  <a:srgbClr val="A9392C"/>
                </a:solidFill>
              </a:rPr>
              <a:t>The assistant told the customer 2 percent.</a:t>
            </a:r>
          </a:p>
          <a:p>
            <a:pPr>
              <a:spcAft>
                <a:spcPts val="1400"/>
              </a:spcAft>
            </a:pPr>
            <a:r>
              <a:rPr sz="1200" b="0">
                <a:solidFill>
                  <a:srgbClr val="3A4652"/>
                </a:solidFill>
              </a:rPr>
              <a:t>Nothing in that answer looks wrong. It is worded exactly like a correct one. The customer acts on it. The enterprise finds out from a complaint.</a:t>
            </a:r>
          </a:p>
          <a:p>
            <a:pPr>
              <a:spcAft>
                <a:spcPts val="0"/>
              </a:spcAft>
            </a:pPr>
            <a:r>
              <a:rPr sz="1200" b="1">
                <a:solidFill>
                  <a:srgbClr val="16202B"/>
                </a:solidFill>
              </a:rPr>
              <a:t>The model answered in two seconds. The review reached the enterprise in two weeks. That gap is the problem.</a:t>
            </a:r>
          </a:p>
        </p:txBody>
      </p:sp>
      <p:sp>
        <p:nvSpPr>
          <p:cNvPr id="5" name="TextBox 4"/>
          <p:cNvSpPr txBox="1"/>
          <p:nvPr/>
        </p:nvSpPr>
        <p:spPr>
          <a:xfrm>
            <a:off x="6400800" y="1783080"/>
            <a:ext cx="5212080" cy="4023360"/>
          </a:xfrm>
          <a:prstGeom prst="rect">
            <a:avLst/>
          </a:prstGeom>
          <a:noFill/>
        </p:spPr>
        <p:txBody>
          <a:bodyPr wrap="square">
            <a:spAutoFit/>
          </a:bodyPr>
          <a:lstStyle/>
          <a:p>
            <a:pPr>
              <a:spcAft>
                <a:spcPts val="1000"/>
              </a:spcAft>
            </a:pPr>
            <a:r>
              <a:rPr sz="1150" b="1">
                <a:solidFill>
                  <a:srgbClr val="A100FF"/>
                </a:solidFill>
              </a:rPr>
              <a:t>Three things make it harder than it looks</a:t>
            </a:r>
          </a:p>
          <a:p>
            <a:pPr>
              <a:spcAft>
                <a:spcPts val="900"/>
              </a:spcAft>
            </a:pPr>
            <a:r>
              <a:rPr sz="1100" b="0">
                <a:solidFill>
                  <a:srgbClr val="3A4652"/>
                </a:solidFill>
              </a:rPr>
              <a:t>The risks overlap. A fabricated detail about a named customer is a hallucination and a privacy event at once. One label per response loses that.</a:t>
            </a:r>
          </a:p>
          <a:p>
            <a:pPr>
              <a:spcAft>
                <a:spcPts val="900"/>
              </a:spcAft>
            </a:pPr>
            <a:r>
              <a:rPr sz="1100" b="0">
                <a:solidFill>
                  <a:srgbClr val="3A4652"/>
                </a:solidFill>
              </a:rPr>
              <a:t>There is no ground truth at runtime. The knowledge gap that causes a hallucination is the same one that makes it hard to check.</a:t>
            </a:r>
          </a:p>
          <a:p>
            <a:pPr>
              <a:spcAft>
                <a:spcPts val="0"/>
              </a:spcAft>
            </a:pPr>
            <a:r>
              <a:rPr sz="1100" b="0">
                <a:solidFill>
                  <a:srgbClr val="3A4652"/>
                </a:solidFill>
              </a:rPr>
              <a:t>Over- and under-flagging trade against each other. This cannot be solved, only priced — a missed hallucination in a regulated decision and a false alarm on an internal chatbot are not the same event.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What we built</a:t>
            </a:r>
          </a:p>
        </p:txBody>
      </p:sp>
      <p:sp>
        <p:nvSpPr>
          <p:cNvPr id="3" name="TextBox 2"/>
          <p:cNvSpPr txBox="1"/>
          <p:nvPr/>
        </p:nvSpPr>
        <p:spPr>
          <a:xfrm>
            <a:off x="557784" y="1060704"/>
            <a:ext cx="11064240" cy="457200"/>
          </a:xfrm>
          <a:prstGeom prst="rect">
            <a:avLst/>
          </a:prstGeom>
          <a:noFill/>
        </p:spPr>
        <p:txBody>
          <a:bodyPr wrap="square">
            <a:spAutoFit/>
          </a:bodyPr>
          <a:lstStyle/>
          <a:p>
            <a:r>
              <a:rPr sz="1250">
                <a:solidFill>
                  <a:srgbClr val="6B7782"/>
                </a:solidFill>
              </a:rPr>
              <a:t>A verification layer between the application and any model API. Existing clients change one line: the base URL.</a:t>
            </a:r>
          </a:p>
        </p:txBody>
      </p:sp>
      <p:graphicFrame>
        <p:nvGraphicFramePr>
          <p:cNvPr id="4" name="Table 3"/>
          <p:cNvGraphicFramePr>
            <a:graphicFrameLocks noGrp="1"/>
          </p:cNvGraphicFramePr>
          <p:nvPr/>
        </p:nvGraphicFramePr>
        <p:xfrm>
          <a:off x="557784" y="1783080"/>
          <a:ext cx="11064240" cy="1133856"/>
        </p:xfrm>
        <a:graphic>
          <a:graphicData uri="http://schemas.openxmlformats.org/drawingml/2006/table">
            <a:tbl>
              <a:tblPr firstRow="1">
                <a:tableStyleId>{5C22544A-7EE6-4342-B048-85BDC9FD1C3A}</a:tableStyleId>
              </a:tblPr>
              <a:tblGrid>
                <a:gridCol w="640080"/>
                <a:gridCol w="6583680"/>
                <a:gridCol w="1554480"/>
                <a:gridCol w="2286000"/>
              </a:tblGrid>
              <a:tr h="310896">
                <a:tc>
                  <a:txBody>
                    <a:bodyPr/>
                    <a:lstStyle/>
                    <a:p>
                      <a:pPr algn="l"/>
                      <a:r>
                        <a:rPr sz="950" b="1">
                          <a:solidFill>
                            <a:srgbClr val="6B7782"/>
                          </a:solidFill>
                        </a:rPr>
                        <a:t>Tier</a:t>
                      </a:r>
                    </a:p>
                  </a:txBody>
                  <a:tcPr marL="73152" marR="73152" marT="27432" marB="27432" anchor="ctr">
                    <a:solidFill>
                      <a:srgbClr val="F4F1F8"/>
                    </a:solidFill>
                  </a:tcPr>
                </a:tc>
                <a:tc>
                  <a:txBody>
                    <a:bodyPr/>
                    <a:lstStyle/>
                    <a:p>
                      <a:pPr algn="l"/>
                      <a:r>
                        <a:rPr sz="950" b="1">
                          <a:solidFill>
                            <a:srgbClr val="6B7782"/>
                          </a:solidFill>
                        </a:rPr>
                        <a:t>What it does</a:t>
                      </a:r>
                    </a:p>
                  </a:txBody>
                  <a:tcPr marL="73152" marR="73152" marT="27432" marB="27432" anchor="ctr">
                    <a:solidFill>
                      <a:srgbClr val="F4F1F8"/>
                    </a:solidFill>
                  </a:tcPr>
                </a:tc>
                <a:tc>
                  <a:txBody>
                    <a:bodyPr/>
                    <a:lstStyle/>
                    <a:p>
                      <a:pPr algn="l"/>
                      <a:r>
                        <a:rPr sz="950" b="1">
                          <a:solidFill>
                            <a:srgbClr val="6B7782"/>
                          </a:solidFill>
                        </a:rPr>
                        <a:t>Cost</a:t>
                      </a:r>
                    </a:p>
                  </a:txBody>
                  <a:tcPr marL="73152" marR="73152" marT="27432" marB="27432" anchor="ctr">
                    <a:solidFill>
                      <a:srgbClr val="F4F1F8"/>
                    </a:solidFill>
                  </a:tcPr>
                </a:tc>
                <a:tc>
                  <a:txBody>
                    <a:bodyPr/>
                    <a:lstStyle/>
                    <a:p>
                      <a:pPr algn="l"/>
                      <a:r>
                        <a:rPr sz="950" b="1">
                          <a:solidFill>
                            <a:srgbClr val="6B7782"/>
                          </a:solidFill>
                        </a:rPr>
                        <a:t>Measured latency</a:t>
                      </a:r>
                    </a:p>
                  </a:txBody>
                  <a:tcPr marL="73152" marR="73152" marT="27432" marB="27432" anchor="ctr">
                    <a:solidFill>
                      <a:srgbClr val="F4F1F8"/>
                    </a:solidFill>
                  </a:tcPr>
                </a:tc>
              </a:tr>
              <a:tr h="274320">
                <a:tc>
                  <a:txBody>
                    <a:bodyPr/>
                    <a:lstStyle/>
                    <a:p>
                      <a:pPr algn="l"/>
                      <a:r>
                        <a:rPr sz="1100" b="0">
                          <a:solidFill>
                            <a:srgbClr val="3A4652"/>
                          </a:solidFill>
                        </a:rPr>
                        <a:t>0</a:t>
                      </a:r>
                    </a:p>
                  </a:txBody>
                  <a:tcPr marL="73152" marR="73152" marT="27432" marB="27432" anchor="ctr">
                    <a:solidFill>
                      <a:srgbClr val="FFFFFF"/>
                    </a:solidFill>
                  </a:tcPr>
                </a:tc>
                <a:tc>
                  <a:txBody>
                    <a:bodyPr/>
                    <a:lstStyle/>
                    <a:p>
                      <a:pPr algn="l"/>
                      <a:r>
                        <a:rPr sz="1100" b="0">
                          <a:solidFill>
                            <a:srgbClr val="3A4652"/>
                          </a:solidFill>
                        </a:rPr>
                        <a:t>Deterministic rules: PII patterns, access control, schema</a:t>
                      </a:r>
                    </a:p>
                  </a:txBody>
                  <a:tcPr marL="73152" marR="73152" marT="27432" marB="27432" anchor="ctr">
                    <a:solidFill>
                      <a:srgbClr val="FFFFFF"/>
                    </a:solidFill>
                  </a:tcPr>
                </a:tc>
                <a:tc>
                  <a:txBody>
                    <a:bodyPr/>
                    <a:lstStyle/>
                    <a:p>
                      <a:pPr algn="l"/>
                      <a:r>
                        <a:rPr sz="1100" b="0">
                          <a:solidFill>
                            <a:srgbClr val="3A4652"/>
                          </a:solidFill>
                        </a:rPr>
                        <a:t>free</a:t>
                      </a:r>
                    </a:p>
                  </a:txBody>
                  <a:tcPr marL="73152" marR="73152" marT="27432" marB="27432" anchor="ctr">
                    <a:solidFill>
                      <a:srgbClr val="FFFFFF"/>
                    </a:solidFill>
                  </a:tcPr>
                </a:tc>
                <a:tc>
                  <a:txBody>
                    <a:bodyPr/>
                    <a:lstStyle/>
                    <a:p>
                      <a:pPr algn="l"/>
                      <a:r>
                        <a:rPr sz="1100" b="0">
                          <a:solidFill>
                            <a:srgbClr val="3A4652"/>
                          </a:solidFill>
                        </a:rPr>
                        <a:t>under 1 ms</a:t>
                      </a:r>
                    </a:p>
                  </a:txBody>
                  <a:tcPr marL="73152" marR="73152" marT="27432" marB="27432" anchor="ctr">
                    <a:solidFill>
                      <a:srgbClr val="FFFFFF"/>
                    </a:solidFill>
                  </a:tcPr>
                </a:tc>
              </a:tr>
              <a:tr h="274320">
                <a:tc>
                  <a:txBody>
                    <a:bodyPr/>
                    <a:lstStyle/>
                    <a:p>
                      <a:pPr algn="l"/>
                      <a:r>
                        <a:rPr sz="1100" b="0">
                          <a:solidFill>
                            <a:srgbClr val="3A4652"/>
                          </a:solidFill>
                        </a:rPr>
                        <a:t>1</a:t>
                      </a:r>
                    </a:p>
                  </a:txBody>
                  <a:tcPr marL="73152" marR="73152" marT="27432" marB="27432" anchor="ctr">
                    <a:solidFill>
                      <a:srgbClr val="FFFFFF"/>
                    </a:solidFill>
                  </a:tcPr>
                </a:tc>
                <a:tc>
                  <a:txBody>
                    <a:bodyPr/>
                    <a:lstStyle/>
                    <a:p>
                      <a:pPr algn="l"/>
                      <a:r>
                        <a:rPr sz="1100" b="0">
                          <a:solidFill>
                            <a:srgbClr val="3A4652"/>
                          </a:solidFill>
                        </a:rPr>
                        <a:t>NLI entailment against each retrieved source, toxicity, bias heuristic</a:t>
                      </a:r>
                    </a:p>
                  </a:txBody>
                  <a:tcPr marL="73152" marR="73152" marT="27432" marB="27432" anchor="ctr">
                    <a:solidFill>
                      <a:srgbClr val="FFFFFF"/>
                    </a:solidFill>
                  </a:tcPr>
                </a:tc>
                <a:tc>
                  <a:txBody>
                    <a:bodyPr/>
                    <a:lstStyle/>
                    <a:p>
                      <a:pPr algn="l"/>
                      <a:r>
                        <a:rPr sz="1100" b="0">
                          <a:solidFill>
                            <a:srgbClr val="3A4652"/>
                          </a:solidFill>
                        </a:rPr>
                        <a:t>GPU seconds</a:t>
                      </a:r>
                    </a:p>
                  </a:txBody>
                  <a:tcPr marL="73152" marR="73152" marT="27432" marB="27432" anchor="ctr">
                    <a:solidFill>
                      <a:srgbClr val="FFFFFF"/>
                    </a:solidFill>
                  </a:tcPr>
                </a:tc>
                <a:tc>
                  <a:txBody>
                    <a:bodyPr/>
                    <a:lstStyle/>
                    <a:p>
                      <a:pPr algn="r"/>
                      <a:r>
                        <a:rPr sz="1100" b="0">
                          <a:solidFill>
                            <a:srgbClr val="3A4652"/>
                          </a:solidFill>
                        </a:rPr>
                        <a:t>87–190 ms p95, by policy</a:t>
                      </a:r>
                    </a:p>
                  </a:txBody>
                  <a:tcPr marL="73152" marR="73152" marT="27432" marB="27432" anchor="ctr">
                    <a:solidFill>
                      <a:srgbClr val="FFFFFF"/>
                    </a:solidFill>
                  </a:tcPr>
                </a:tc>
              </a:tr>
              <a:tr h="274320">
                <a:tc>
                  <a:txBody>
                    <a:bodyPr/>
                    <a:lstStyle/>
                    <a:p>
                      <a:pPr algn="l"/>
                      <a:r>
                        <a:rPr sz="1100" b="0">
                          <a:solidFill>
                            <a:srgbClr val="3A4652"/>
                          </a:solidFill>
                        </a:rPr>
                        <a:t>2</a:t>
                      </a:r>
                    </a:p>
                  </a:txBody>
                  <a:tcPr marL="73152" marR="73152" marT="27432" marB="27432" anchor="ctr">
                    <a:solidFill>
                      <a:srgbClr val="FFFFFF"/>
                    </a:solidFill>
                  </a:tcPr>
                </a:tc>
                <a:tc>
                  <a:txBody>
                    <a:bodyPr/>
                    <a:lstStyle/>
                    <a:p>
                      <a:pPr algn="l"/>
                      <a:r>
                        <a:rPr sz="1100" b="0">
                          <a:solidFill>
                            <a:srgbClr val="3A4652"/>
                          </a:solidFill>
                        </a:rPr>
                        <a:t>LLM judge, only for claims inside the policy's uncertainty band</a:t>
                      </a:r>
                    </a:p>
                  </a:txBody>
                  <a:tcPr marL="73152" marR="73152" marT="27432" marB="27432" anchor="ctr">
                    <a:solidFill>
                      <a:srgbClr val="FFFFFF"/>
                    </a:solidFill>
                  </a:tcPr>
                </a:tc>
                <a:tc>
                  <a:txBody>
                    <a:bodyPr/>
                    <a:lstStyle/>
                    <a:p>
                      <a:pPr algn="l"/>
                      <a:r>
                        <a:rPr sz="1100" b="0">
                          <a:solidFill>
                            <a:srgbClr val="3A4652"/>
                          </a:solidFill>
                        </a:rPr>
                        <a:t>tokens</a:t>
                      </a:r>
                    </a:p>
                  </a:txBody>
                  <a:tcPr marL="73152" marR="73152" marT="27432" marB="27432" anchor="ctr">
                    <a:solidFill>
                      <a:srgbClr val="FFFFFF"/>
                    </a:solidFill>
                  </a:tcPr>
                </a:tc>
                <a:tc>
                  <a:txBody>
                    <a:bodyPr/>
                    <a:lstStyle/>
                    <a:p>
                      <a:pPr algn="r"/>
                      <a:r>
                        <a:rPr sz="1100" b="0">
                          <a:solidFill>
                            <a:srgbClr val="3A4652"/>
                          </a:solidFill>
                        </a:rPr>
                        <a:t>1.3–3.1 s</a:t>
                      </a:r>
                    </a:p>
                  </a:txBody>
                  <a:tcPr marL="73152" marR="73152" marT="27432" marB="27432" anchor="ctr">
                    <a:solidFill>
                      <a:srgbClr val="FFFFFF"/>
                    </a:solidFill>
                  </a:tcPr>
                </a:tc>
              </a:tr>
            </a:tbl>
          </a:graphicData>
        </a:graphic>
      </p:graphicFrame>
      <p:sp>
        <p:nvSpPr>
          <p:cNvPr id="5" name="TextBox 4"/>
          <p:cNvSpPr txBox="1"/>
          <p:nvPr/>
        </p:nvSpPr>
        <p:spPr>
          <a:xfrm>
            <a:off x="557784" y="3429000"/>
            <a:ext cx="11064240" cy="2377440"/>
          </a:xfrm>
          <a:prstGeom prst="rect">
            <a:avLst/>
          </a:prstGeom>
          <a:noFill/>
        </p:spPr>
        <p:txBody>
          <a:bodyPr wrap="square">
            <a:spAutoFit/>
          </a:bodyPr>
          <a:lstStyle/>
          <a:p>
            <a:pPr>
              <a:spcAft>
                <a:spcPts val="1200"/>
              </a:spcAft>
            </a:pPr>
            <a:r>
              <a:rPr sz="1200" b="0">
                <a:solidFill>
                  <a:srgbClr val="3A4652"/>
                </a:solidFill>
              </a:rPr>
              <a:t>Tier 2 fires on 2.8% of responses. That is not a target we set — it is what the uncertainty band produces, and the benchmark sweeps the band to show what every other setting would cost.</a:t>
            </a:r>
          </a:p>
          <a:p>
            <a:pPr>
              <a:spcAft>
                <a:spcPts val="400"/>
              </a:spcAft>
            </a:pPr>
            <a:r>
              <a:rPr sz="1200" b="1">
                <a:solidFill>
                  <a:srgbClr val="16202B"/>
                </a:solidFill>
              </a:rPr>
              <a:t>The action router does not compare a score to a threshold.</a:t>
            </a:r>
          </a:p>
          <a:p>
            <a:pPr>
              <a:spcAft>
                <a:spcPts val="1200"/>
              </a:spcAft>
            </a:pPr>
            <a:r>
              <a:rPr sz="1200" b="0">
                <a:solidFill>
                  <a:srgbClr val="3A4652"/>
                </a:solidFill>
              </a:rPr>
              <a:t>It weighs P(wrong) × cost_of_being_wrong against cost_of_human_review and picks the cheaper mistake. Every category is evaluated, so a response flagged for both privacy and grounding takes the more severe action and records both reasons.</a:t>
            </a:r>
          </a:p>
          <a:p>
            <a:pPr>
              <a:spcAft>
                <a:spcPts val="0"/>
              </a:spcAft>
            </a:pPr>
            <a:r>
              <a:rPr sz="1200" b="0">
                <a:solidFill>
                  <a:srgbClr val="3A4652"/>
                </a:solidFill>
              </a:rPr>
              <a:t>Every verdict, and every human override, is written to an append-only hash-chained log. A record cannot be altered afterwards without breaking the chain, and tampering is detected by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One response, three policies, three verdicts</a:t>
            </a:r>
          </a:p>
        </p:txBody>
      </p:sp>
      <p:sp>
        <p:nvSpPr>
          <p:cNvPr id="3" name="TextBox 2"/>
          <p:cNvSpPr txBox="1"/>
          <p:nvPr/>
        </p:nvSpPr>
        <p:spPr>
          <a:xfrm>
            <a:off x="557784" y="1060704"/>
            <a:ext cx="11064240" cy="457200"/>
          </a:xfrm>
          <a:prstGeom prst="rect">
            <a:avLst/>
          </a:prstGeom>
          <a:noFill/>
        </p:spPr>
        <p:txBody>
          <a:bodyPr wrap="square">
            <a:spAutoFit/>
          </a:bodyPr>
          <a:lstStyle/>
          <a:p>
            <a:r>
              <a:rPr sz="1250">
                <a:solidFill>
                  <a:srgbClr val="6B7782"/>
                </a:solidFill>
              </a:rPr>
              <a:t>Nothing in the code knows what a use case is.</a:t>
            </a:r>
          </a:p>
        </p:txBody>
      </p:sp>
      <p:graphicFrame>
        <p:nvGraphicFramePr>
          <p:cNvPr id="4" name="Table 3"/>
          <p:cNvGraphicFramePr>
            <a:graphicFrameLocks noGrp="1"/>
          </p:cNvGraphicFramePr>
          <p:nvPr/>
        </p:nvGraphicFramePr>
        <p:xfrm>
          <a:off x="557784" y="1828800"/>
          <a:ext cx="11064240" cy="1682496"/>
        </p:xfrm>
        <a:graphic>
          <a:graphicData uri="http://schemas.openxmlformats.org/drawingml/2006/table">
            <a:tbl>
              <a:tblPr firstRow="1">
                <a:tableStyleId>{5C22544A-7EE6-4342-B048-85BDC9FD1C3A}</a:tableStyleId>
              </a:tblPr>
              <a:tblGrid>
                <a:gridCol w="2834640"/>
                <a:gridCol w="2743200"/>
                <a:gridCol w="2743200"/>
                <a:gridCol w="2743200"/>
              </a:tblGrid>
              <a:tr h="310896">
                <a:tc>
                  <a:txBody>
                    <a:bodyPr/>
                    <a:lstStyle/>
                    <a:p>
                      <a:pPr algn="l"/>
                    </a:p>
                  </a:txBody>
                  <a:tcPr marL="73152" marR="73152" marT="27432" marB="27432" anchor="ctr">
                    <a:solidFill>
                      <a:srgbClr val="F4F1F8"/>
                    </a:solidFill>
                  </a:tcPr>
                </a:tc>
                <a:tc>
                  <a:txBody>
                    <a:bodyPr/>
                    <a:lstStyle/>
                    <a:p>
                      <a:pPr algn="l"/>
                      <a:r>
                        <a:rPr sz="950" b="1">
                          <a:solidFill>
                            <a:srgbClr val="6B7782"/>
                          </a:solidFill>
                        </a:rPr>
                        <a:t>customer support</a:t>
                      </a:r>
                    </a:p>
                  </a:txBody>
                  <a:tcPr marL="73152" marR="73152" marT="27432" marB="27432" anchor="ctr">
                    <a:solidFill>
                      <a:srgbClr val="F4F1F8"/>
                    </a:solidFill>
                  </a:tcPr>
                </a:tc>
                <a:tc>
                  <a:txBody>
                    <a:bodyPr/>
                    <a:lstStyle/>
                    <a:p>
                      <a:pPr algn="l"/>
                      <a:r>
                        <a:rPr sz="950" b="1">
                          <a:solidFill>
                            <a:srgbClr val="6B7782"/>
                          </a:solidFill>
                        </a:rPr>
                        <a:t>internal copilot</a:t>
                      </a:r>
                    </a:p>
                  </a:txBody>
                  <a:tcPr marL="73152" marR="73152" marT="27432" marB="27432" anchor="ctr">
                    <a:solidFill>
                      <a:srgbClr val="F4F1F8"/>
                    </a:solidFill>
                  </a:tcPr>
                </a:tc>
                <a:tc>
                  <a:txBody>
                    <a:bodyPr/>
                    <a:lstStyle/>
                    <a:p>
                      <a:pPr algn="l"/>
                      <a:r>
                        <a:rPr sz="950" b="1">
                          <a:solidFill>
                            <a:srgbClr val="6B7782"/>
                          </a:solidFill>
                        </a:rPr>
                        <a:t>decision support</a:t>
                      </a:r>
                    </a:p>
                  </a:txBody>
                  <a:tcPr marL="73152" marR="73152" marT="27432" marB="27432" anchor="ctr">
                    <a:solidFill>
                      <a:srgbClr val="F4F1F8"/>
                    </a:solidFill>
                  </a:tcPr>
                </a:tc>
              </a:tr>
              <a:tr h="274320">
                <a:tc>
                  <a:txBody>
                    <a:bodyPr/>
                    <a:lstStyle/>
                    <a:p>
                      <a:pPr algn="l"/>
                      <a:r>
                        <a:rPr sz="1100" b="0">
                          <a:solidFill>
                            <a:srgbClr val="3A4652"/>
                          </a:solidFill>
                        </a:rPr>
                        <a:t>being wrong costs</a:t>
                      </a:r>
                    </a:p>
                  </a:txBody>
                  <a:tcPr marL="73152" marR="73152" marT="27432" marB="27432" anchor="ctr">
                    <a:solidFill>
                      <a:srgbClr val="FFFFFF"/>
                    </a:solidFill>
                  </a:tcPr>
                </a:tc>
                <a:tc>
                  <a:txBody>
                    <a:bodyPr/>
                    <a:lstStyle/>
                    <a:p>
                      <a:pPr algn="l"/>
                      <a:r>
                        <a:rPr sz="1100" b="0">
                          <a:solidFill>
                            <a:srgbClr val="3A4652"/>
                          </a:solidFill>
                        </a:rPr>
                        <a:t>Rs 400</a:t>
                      </a:r>
                    </a:p>
                  </a:txBody>
                  <a:tcPr marL="73152" marR="73152" marT="27432" marB="27432" anchor="ctr">
                    <a:solidFill>
                      <a:srgbClr val="FFFFFF"/>
                    </a:solidFill>
                  </a:tcPr>
                </a:tc>
                <a:tc>
                  <a:txBody>
                    <a:bodyPr/>
                    <a:lstStyle/>
                    <a:p>
                      <a:pPr algn="l"/>
                      <a:r>
                        <a:rPr sz="1100" b="0">
                          <a:solidFill>
                            <a:srgbClr val="3A4652"/>
                          </a:solidFill>
                        </a:rPr>
                        <a:t>Rs 60</a:t>
                      </a:r>
                    </a:p>
                  </a:txBody>
                  <a:tcPr marL="73152" marR="73152" marT="27432" marB="27432" anchor="ctr">
                    <a:solidFill>
                      <a:srgbClr val="FFFFFF"/>
                    </a:solidFill>
                  </a:tcPr>
                </a:tc>
                <a:tc>
                  <a:txBody>
                    <a:bodyPr/>
                    <a:lstStyle/>
                    <a:p>
                      <a:pPr algn="l"/>
                      <a:r>
                        <a:rPr sz="1100" b="0">
                          <a:solidFill>
                            <a:srgbClr val="3A4652"/>
                          </a:solidFill>
                        </a:rPr>
                        <a:t>Rs 50,000</a:t>
                      </a:r>
                    </a:p>
                  </a:txBody>
                  <a:tcPr marL="73152" marR="73152" marT="27432" marB="27432" anchor="ctr">
                    <a:solidFill>
                      <a:srgbClr val="FFFFFF"/>
                    </a:solidFill>
                  </a:tcPr>
                </a:tc>
              </a:tr>
              <a:tr h="274320">
                <a:tc>
                  <a:txBody>
                    <a:bodyPr/>
                    <a:lstStyle/>
                    <a:p>
                      <a:pPr algn="l"/>
                      <a:r>
                        <a:rPr sz="1100" b="1">
                          <a:solidFill>
                            <a:srgbClr val="16202B"/>
                          </a:solidFill>
                        </a:rPr>
                        <a:t>hallucinated number</a:t>
                      </a:r>
                    </a:p>
                  </a:txBody>
                  <a:tcPr marL="73152" marR="73152" marT="27432" marB="27432" anchor="ctr">
                    <a:solidFill>
                      <a:srgbClr val="F4F1F8"/>
                    </a:solidFill>
                  </a:tcPr>
                </a:tc>
                <a:tc>
                  <a:txBody>
                    <a:bodyPr/>
                    <a:lstStyle/>
                    <a:p>
                      <a:pPr algn="l"/>
                      <a:r>
                        <a:rPr sz="1100" b="1">
                          <a:solidFill>
                            <a:srgbClr val="16202B"/>
                          </a:solidFill>
                        </a:rPr>
                        <a:t>regenerate</a:t>
                      </a:r>
                    </a:p>
                  </a:txBody>
                  <a:tcPr marL="73152" marR="73152" marT="27432" marB="27432" anchor="ctr">
                    <a:solidFill>
                      <a:srgbClr val="F4F1F8"/>
                    </a:solidFill>
                  </a:tcPr>
                </a:tc>
                <a:tc>
                  <a:txBody>
                    <a:bodyPr/>
                    <a:lstStyle/>
                    <a:p>
                      <a:pPr algn="l"/>
                      <a:r>
                        <a:rPr sz="1100" b="1">
                          <a:solidFill>
                            <a:srgbClr val="16202B"/>
                          </a:solidFill>
                        </a:rPr>
                        <a:t>annotate</a:t>
                      </a:r>
                    </a:p>
                  </a:txBody>
                  <a:tcPr marL="73152" marR="73152" marT="27432" marB="27432" anchor="ctr">
                    <a:solidFill>
                      <a:srgbClr val="F4F1F8"/>
                    </a:solidFill>
                  </a:tcPr>
                </a:tc>
                <a:tc>
                  <a:txBody>
                    <a:bodyPr/>
                    <a:lstStyle/>
                    <a:p>
                      <a:pPr algn="l"/>
                      <a:r>
                        <a:rPr sz="1100" b="1">
                          <a:solidFill>
                            <a:srgbClr val="16202B"/>
                          </a:solidFill>
                        </a:rPr>
                        <a:t>escalate</a:t>
                      </a:r>
                    </a:p>
                  </a:txBody>
                  <a:tcPr marL="73152" marR="73152" marT="27432" marB="27432" anchor="ctr">
                    <a:solidFill>
                      <a:srgbClr val="F4F1F8"/>
                    </a:solidFill>
                  </a:tcPr>
                </a:tc>
              </a:tr>
              <a:tr h="274320">
                <a:tc>
                  <a:txBody>
                    <a:bodyPr/>
                    <a:lstStyle/>
                    <a:p>
                      <a:pPr algn="l"/>
                      <a:r>
                        <a:rPr sz="1100" b="0">
                          <a:solidFill>
                            <a:srgbClr val="3A4652"/>
                          </a:solidFill>
                        </a:rPr>
                        <a:t>PII leak</a:t>
                      </a:r>
                    </a:p>
                  </a:txBody>
                  <a:tcPr marL="73152" marR="73152" marT="27432" marB="27432" anchor="ctr">
                    <a:solidFill>
                      <a:srgbClr val="FFFFFF"/>
                    </a:solidFill>
                  </a:tcPr>
                </a:tc>
                <a:tc>
                  <a:txBody>
                    <a:bodyPr/>
                    <a:lstStyle/>
                    <a:p>
                      <a:pPr algn="l"/>
                      <a:r>
                        <a:rPr sz="1100" b="0">
                          <a:solidFill>
                            <a:srgbClr val="3A4652"/>
                          </a:solidFill>
                        </a:rPr>
                        <a:t>block</a:t>
                      </a:r>
                    </a:p>
                  </a:txBody>
                  <a:tcPr marL="73152" marR="73152" marT="27432" marB="27432" anchor="ctr">
                    <a:solidFill>
                      <a:srgbClr val="FFFFFF"/>
                    </a:solidFill>
                  </a:tcPr>
                </a:tc>
                <a:tc>
                  <a:txBody>
                    <a:bodyPr/>
                    <a:lstStyle/>
                    <a:p>
                      <a:pPr algn="l"/>
                      <a:r>
                        <a:rPr sz="1100" b="0">
                          <a:solidFill>
                            <a:srgbClr val="3A4652"/>
                          </a:solidFill>
                        </a:rPr>
                        <a:t>annotate</a:t>
                      </a:r>
                    </a:p>
                  </a:txBody>
                  <a:tcPr marL="73152" marR="73152" marT="27432" marB="27432" anchor="ctr">
                    <a:solidFill>
                      <a:srgbClr val="FFFFFF"/>
                    </a:solidFill>
                  </a:tcPr>
                </a:tc>
                <a:tc>
                  <a:txBody>
                    <a:bodyPr/>
                    <a:lstStyle/>
                    <a:p>
                      <a:pPr algn="l"/>
                      <a:r>
                        <a:rPr sz="1100" b="0">
                          <a:solidFill>
                            <a:srgbClr val="3A4652"/>
                          </a:solidFill>
                        </a:rPr>
                        <a:t>block</a:t>
                      </a:r>
                    </a:p>
                  </a:txBody>
                  <a:tcPr marL="73152" marR="73152" marT="27432" marB="27432" anchor="ctr">
                    <a:solidFill>
                      <a:srgbClr val="FFFFFF"/>
                    </a:solidFill>
                  </a:tcPr>
                </a:tc>
              </a:tr>
              <a:tr h="274320">
                <a:tc>
                  <a:txBody>
                    <a:bodyPr/>
                    <a:lstStyle/>
                    <a:p>
                      <a:pPr algn="l"/>
                      <a:r>
                        <a:rPr sz="1100" b="0">
                          <a:solidFill>
                            <a:srgbClr val="3A4652"/>
                          </a:solidFill>
                        </a:rPr>
                        <a:t>access-control breach</a:t>
                      </a:r>
                    </a:p>
                  </a:txBody>
                  <a:tcPr marL="73152" marR="73152" marT="27432" marB="27432" anchor="ctr">
                    <a:solidFill>
                      <a:srgbClr val="FFFFFF"/>
                    </a:solidFill>
                  </a:tcPr>
                </a:tc>
                <a:tc>
                  <a:txBody>
                    <a:bodyPr/>
                    <a:lstStyle/>
                    <a:p>
                      <a:pPr algn="l"/>
                      <a:r>
                        <a:rPr sz="1100" b="0">
                          <a:solidFill>
                            <a:srgbClr val="3A4652"/>
                          </a:solidFill>
                        </a:rPr>
                        <a:t>block</a:t>
                      </a:r>
                    </a:p>
                  </a:txBody>
                  <a:tcPr marL="73152" marR="73152" marT="27432" marB="27432" anchor="ctr">
                    <a:solidFill>
                      <a:srgbClr val="FFFFFF"/>
                    </a:solidFill>
                  </a:tcPr>
                </a:tc>
                <a:tc>
                  <a:txBody>
                    <a:bodyPr/>
                    <a:lstStyle/>
                    <a:p>
                      <a:pPr algn="l"/>
                      <a:r>
                        <a:rPr sz="1100" b="0">
                          <a:solidFill>
                            <a:srgbClr val="3A4652"/>
                          </a:solidFill>
                        </a:rPr>
                        <a:t>block</a:t>
                      </a:r>
                    </a:p>
                  </a:txBody>
                  <a:tcPr marL="73152" marR="73152" marT="27432" marB="27432" anchor="ctr">
                    <a:solidFill>
                      <a:srgbClr val="FFFFFF"/>
                    </a:solidFill>
                  </a:tcPr>
                </a:tc>
                <a:tc>
                  <a:txBody>
                    <a:bodyPr/>
                    <a:lstStyle/>
                    <a:p>
                      <a:pPr algn="l"/>
                      <a:r>
                        <a:rPr sz="1100" b="0">
                          <a:solidFill>
                            <a:srgbClr val="3A4652"/>
                          </a:solidFill>
                        </a:rPr>
                        <a:t>block</a:t>
                      </a:r>
                    </a:p>
                  </a:txBody>
                  <a:tcPr marL="73152" marR="73152" marT="27432" marB="27432" anchor="ctr">
                    <a:solidFill>
                      <a:srgbClr val="FFFFFF"/>
                    </a:solidFill>
                  </a:tcPr>
                </a:tc>
              </a:tr>
              <a:tr h="274320">
                <a:tc>
                  <a:txBody>
                    <a:bodyPr/>
                    <a:lstStyle/>
                    <a:p>
                      <a:pPr algn="l"/>
                      <a:r>
                        <a:rPr sz="1100" b="0">
                          <a:solidFill>
                            <a:srgbClr val="3A4652"/>
                          </a:solidFill>
                        </a:rPr>
                        <a:t>biased decision</a:t>
                      </a:r>
                    </a:p>
                  </a:txBody>
                  <a:tcPr marL="73152" marR="73152" marT="27432" marB="27432" anchor="ctr">
                    <a:solidFill>
                      <a:srgbClr val="FFFFFF"/>
                    </a:solidFill>
                  </a:tcPr>
                </a:tc>
                <a:tc>
                  <a:txBody>
                    <a:bodyPr/>
                    <a:lstStyle/>
                    <a:p>
                      <a:pPr algn="l"/>
                      <a:r>
                        <a:rPr sz="1100" b="0">
                          <a:solidFill>
                            <a:srgbClr val="3A4652"/>
                          </a:solidFill>
                        </a:rPr>
                        <a:t>escalate</a:t>
                      </a:r>
                    </a:p>
                  </a:txBody>
                  <a:tcPr marL="73152" marR="73152" marT="27432" marB="27432" anchor="ctr">
                    <a:solidFill>
                      <a:srgbClr val="FFFFFF"/>
                    </a:solidFill>
                  </a:tcPr>
                </a:tc>
                <a:tc>
                  <a:txBody>
                    <a:bodyPr/>
                    <a:lstStyle/>
                    <a:p>
                      <a:pPr algn="l"/>
                      <a:r>
                        <a:rPr sz="1100" b="0">
                          <a:solidFill>
                            <a:srgbClr val="3A4652"/>
                          </a:solidFill>
                        </a:rPr>
                        <a:t>annotate</a:t>
                      </a:r>
                    </a:p>
                  </a:txBody>
                  <a:tcPr marL="73152" marR="73152" marT="27432" marB="27432" anchor="ctr">
                    <a:solidFill>
                      <a:srgbClr val="FFFFFF"/>
                    </a:solidFill>
                  </a:tcPr>
                </a:tc>
                <a:tc>
                  <a:txBody>
                    <a:bodyPr/>
                    <a:lstStyle/>
                    <a:p>
                      <a:pPr algn="l"/>
                      <a:r>
                        <a:rPr sz="1100" b="0">
                          <a:solidFill>
                            <a:srgbClr val="3A4652"/>
                          </a:solidFill>
                        </a:rPr>
                        <a:t>escalate</a:t>
                      </a:r>
                    </a:p>
                  </a:txBody>
                  <a:tcPr marL="73152" marR="73152" marT="27432" marB="27432" anchor="ctr">
                    <a:solidFill>
                      <a:srgbClr val="FFFFFF"/>
                    </a:solidFill>
                  </a:tcPr>
                </a:tc>
              </a:tr>
            </a:tbl>
          </a:graphicData>
        </a:graphic>
      </p:graphicFrame>
      <p:sp>
        <p:nvSpPr>
          <p:cNvPr id="5" name="TextBox 4"/>
          <p:cNvSpPr txBox="1"/>
          <p:nvPr/>
        </p:nvSpPr>
        <p:spPr>
          <a:xfrm>
            <a:off x="557784" y="3977639"/>
            <a:ext cx="11064240" cy="1828800"/>
          </a:xfrm>
          <a:prstGeom prst="rect">
            <a:avLst/>
          </a:prstGeom>
          <a:noFill/>
        </p:spPr>
        <p:txBody>
          <a:bodyPr wrap="square">
            <a:spAutoFit/>
          </a:bodyPr>
          <a:lstStyle/>
          <a:p>
            <a:pPr>
              <a:spcAft>
                <a:spcPts val="1200"/>
              </a:spcAft>
            </a:pPr>
            <a:r>
              <a:rPr sz="1200" b="0">
                <a:solidFill>
                  <a:srgbClr val="3A4652"/>
                </a:solidFill>
              </a:rPr>
              <a:t>Risk appetite, latency budget, uncertainty band, thresholds, actions, retention, jurisdiction and review capacity are all declared in YAML. A new jurisdiction, a new use case, or a changed risk appetite is a config edit, not a release.</a:t>
            </a:r>
          </a:p>
          <a:p>
            <a:pPr>
              <a:spcAft>
                <a:spcPts val="0"/>
              </a:spcAft>
            </a:pPr>
            <a:r>
              <a:rPr sz="1150" b="0">
                <a:solidFill>
                  <a:srgbClr val="6B7782"/>
                </a:solidFill>
              </a:rPr>
              <a:t>An access-control breach blocks everywhere — a permission failure is not a matter of risk appetite.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Results</a:t>
            </a:r>
          </a:p>
        </p:txBody>
      </p:sp>
      <p:sp>
        <p:nvSpPr>
          <p:cNvPr id="3" name="TextBox 2"/>
          <p:cNvSpPr txBox="1"/>
          <p:nvPr/>
        </p:nvSpPr>
        <p:spPr>
          <a:xfrm>
            <a:off x="557784" y="1060704"/>
            <a:ext cx="11064240" cy="457200"/>
          </a:xfrm>
          <a:prstGeom prst="rect">
            <a:avLst/>
          </a:prstGeom>
          <a:noFill/>
        </p:spPr>
        <p:txBody>
          <a:bodyPr wrap="square">
            <a:spAutoFit/>
          </a:bodyPr>
          <a:lstStyle/>
          <a:p>
            <a:r>
              <a:rPr sz="1250">
                <a:solidFill>
                  <a:srgbClr val="6B7782"/>
                </a:solidFill>
              </a:rPr>
              <a:t>319 labelled cases against a live judge (openai/gpt-5.6-sol). One call in 328 fell back — 0.3%, counted and named in the report.</a:t>
            </a:r>
          </a:p>
        </p:txBody>
      </p:sp>
      <p:graphicFrame>
        <p:nvGraphicFramePr>
          <p:cNvPr id="4" name="Table 3"/>
          <p:cNvGraphicFramePr>
            <a:graphicFrameLocks noGrp="1"/>
          </p:cNvGraphicFramePr>
          <p:nvPr/>
        </p:nvGraphicFramePr>
        <p:xfrm>
          <a:off x="557784" y="1828800"/>
          <a:ext cx="11064240" cy="1408176"/>
        </p:xfrm>
        <a:graphic>
          <a:graphicData uri="http://schemas.openxmlformats.org/drawingml/2006/table">
            <a:tbl>
              <a:tblPr firstRow="1">
                <a:tableStyleId>{5C22544A-7EE6-4342-B048-85BDC9FD1C3A}</a:tableStyleId>
              </a:tblPr>
              <a:tblGrid>
                <a:gridCol w="3657600"/>
                <a:gridCol w="1371600"/>
                <a:gridCol w="2011680"/>
                <a:gridCol w="1463040"/>
                <a:gridCol w="1463040"/>
                <a:gridCol w="1097280"/>
              </a:tblGrid>
              <a:tr h="310896">
                <a:tc>
                  <a:txBody>
                    <a:bodyPr/>
                    <a:lstStyle/>
                    <a:p>
                      <a:pPr algn="l"/>
                      <a:r>
                        <a:rPr sz="950" b="1">
                          <a:solidFill>
                            <a:srgbClr val="6B7782"/>
                          </a:solidFill>
                        </a:rPr>
                        <a:t>Configuration</a:t>
                      </a:r>
                    </a:p>
                  </a:txBody>
                  <a:tcPr marL="73152" marR="73152" marT="27432" marB="27432" anchor="ctr">
                    <a:solidFill>
                      <a:srgbClr val="F4F1F8"/>
                    </a:solidFill>
                  </a:tcPr>
                </a:tc>
                <a:tc>
                  <a:txBody>
                    <a:bodyPr/>
                    <a:lstStyle/>
                    <a:p>
                      <a:pPr algn="l"/>
                      <a:r>
                        <a:rPr sz="950" b="1">
                          <a:solidFill>
                            <a:srgbClr val="6B7782"/>
                          </a:solidFill>
                        </a:rPr>
                        <a:t>Catch</a:t>
                      </a:r>
                    </a:p>
                  </a:txBody>
                  <a:tcPr marL="73152" marR="73152" marT="27432" marB="27432" anchor="ctr">
                    <a:solidFill>
                      <a:srgbClr val="F4F1F8"/>
                    </a:solidFill>
                  </a:tcPr>
                </a:tc>
                <a:tc>
                  <a:txBody>
                    <a:bodyPr/>
                    <a:lstStyle/>
                    <a:p>
                      <a:pPr algn="l"/>
                      <a:r>
                        <a:rPr sz="950" b="1">
                          <a:solidFill>
                            <a:srgbClr val="6B7782"/>
                          </a:solidFill>
                        </a:rPr>
                        <a:t>False positives</a:t>
                      </a:r>
                    </a:p>
                  </a:txBody>
                  <a:tcPr marL="73152" marR="73152" marT="27432" marB="27432" anchor="ctr">
                    <a:solidFill>
                      <a:srgbClr val="F4F1F8"/>
                    </a:solidFill>
                  </a:tcPr>
                </a:tc>
                <a:tc>
                  <a:txBody>
                    <a:bodyPr/>
                    <a:lstStyle/>
                    <a:p>
                      <a:pPr algn="l"/>
                      <a:r>
                        <a:rPr sz="950" b="1">
                          <a:solidFill>
                            <a:srgbClr val="6B7782"/>
                          </a:solidFill>
                        </a:rPr>
                        <a:t>Tier 2 rate</a:t>
                      </a:r>
                    </a:p>
                  </a:txBody>
                  <a:tcPr marL="73152" marR="73152" marT="27432" marB="27432" anchor="ctr">
                    <a:solidFill>
                      <a:srgbClr val="F4F1F8"/>
                    </a:solidFill>
                  </a:tcPr>
                </a:tc>
                <a:tc>
                  <a:txBody>
                    <a:bodyPr/>
                    <a:lstStyle/>
                    <a:p>
                      <a:pPr algn="l"/>
                      <a:r>
                        <a:rPr sz="950" b="1">
                          <a:solidFill>
                            <a:srgbClr val="6B7782"/>
                          </a:solidFill>
                        </a:rPr>
                        <a:t>p95 latency</a:t>
                      </a:r>
                    </a:p>
                  </a:txBody>
                  <a:tcPr marL="73152" marR="73152" marT="27432" marB="27432" anchor="ctr">
                    <a:solidFill>
                      <a:srgbClr val="F4F1F8"/>
                    </a:solidFill>
                  </a:tcPr>
                </a:tc>
                <a:tc>
                  <a:txBody>
                    <a:bodyPr/>
                    <a:lstStyle/>
                    <a:p>
                      <a:pPr algn="l"/>
                      <a:r>
                        <a:rPr sz="950" b="1">
                          <a:solidFill>
                            <a:srgbClr val="6B7782"/>
                          </a:solidFill>
                        </a:rPr>
                        <a:t>Cost</a:t>
                      </a:r>
                    </a:p>
                  </a:txBody>
                  <a:tcPr marL="73152" marR="73152" marT="27432" marB="27432" anchor="ctr">
                    <a:solidFill>
                      <a:srgbClr val="F4F1F8"/>
                    </a:solidFill>
                  </a:tcPr>
                </a:tc>
              </a:tr>
              <a:tr h="274320">
                <a:tc>
                  <a:txBody>
                    <a:bodyPr/>
                    <a:lstStyle/>
                    <a:p>
                      <a:pPr algn="l"/>
                      <a:r>
                        <a:rPr sz="1100" b="0">
                          <a:solidFill>
                            <a:srgbClr val="3A4652"/>
                          </a:solidFill>
                        </a:rPr>
                        <a:t>Rules only</a:t>
                      </a:r>
                    </a:p>
                  </a:txBody>
                  <a:tcPr marL="73152" marR="73152" marT="27432" marB="27432" anchor="ctr">
                    <a:solidFill>
                      <a:srgbClr val="FFFFFF"/>
                    </a:solidFill>
                  </a:tcPr>
                </a:tc>
                <a:tc>
                  <a:txBody>
                    <a:bodyPr/>
                    <a:lstStyle/>
                    <a:p>
                      <a:pPr algn="r"/>
                      <a:r>
                        <a:rPr sz="1100" b="0">
                          <a:solidFill>
                            <a:srgbClr val="3A4652"/>
                          </a:solidFill>
                        </a:rPr>
                        <a:t>22.8%</a:t>
                      </a:r>
                    </a:p>
                  </a:txBody>
                  <a:tcPr marL="73152" marR="73152" marT="27432" marB="27432" anchor="ctr">
                    <a:solidFill>
                      <a:srgbClr val="FFFFFF"/>
                    </a:solidFill>
                  </a:tcPr>
                </a:tc>
                <a:tc>
                  <a:txBody>
                    <a:bodyPr/>
                    <a:lstStyle/>
                    <a:p>
                      <a:pPr algn="r"/>
                      <a:r>
                        <a:rPr sz="1100" b="0">
                          <a:solidFill>
                            <a:srgbClr val="3A4652"/>
                          </a:solidFill>
                        </a:rPr>
                        <a:t>0.0%</a:t>
                      </a:r>
                    </a:p>
                  </a:txBody>
                  <a:tcPr marL="73152" marR="73152" marT="27432" marB="27432" anchor="ctr">
                    <a:solidFill>
                      <a:srgbClr val="FFFFFF"/>
                    </a:solidFill>
                  </a:tcPr>
                </a:tc>
                <a:tc>
                  <a:txBody>
                    <a:bodyPr/>
                    <a:lstStyle/>
                    <a:p>
                      <a:pPr algn="r"/>
                      <a:r>
                        <a:rPr sz="1100" b="0">
                          <a:solidFill>
                            <a:srgbClr val="3A4652"/>
                          </a:solidFill>
                        </a:rPr>
                        <a:t>0%</a:t>
                      </a:r>
                    </a:p>
                  </a:txBody>
                  <a:tcPr marL="73152" marR="73152" marT="27432" marB="27432" anchor="ctr">
                    <a:solidFill>
                      <a:srgbClr val="FFFFFF"/>
                    </a:solidFill>
                  </a:tcPr>
                </a:tc>
                <a:tc>
                  <a:txBody>
                    <a:bodyPr/>
                    <a:lstStyle/>
                    <a:p>
                      <a:pPr algn="r"/>
                      <a:r>
                        <a:rPr sz="1100" b="0">
                          <a:solidFill>
                            <a:srgbClr val="3A4652"/>
                          </a:solidFill>
                        </a:rPr>
                        <a:t>0.02 ms</a:t>
                      </a:r>
                    </a:p>
                  </a:txBody>
                  <a:tcPr marL="73152" marR="73152" marT="27432" marB="27432" anchor="ctr">
                    <a:solidFill>
                      <a:srgbClr val="FFFFFF"/>
                    </a:solidFill>
                  </a:tcPr>
                </a:tc>
                <a:tc>
                  <a:txBody>
                    <a:bodyPr/>
                    <a:lstStyle/>
                    <a:p>
                      <a:pPr algn="l"/>
                      <a:r>
                        <a:rPr sz="1100" b="0">
                          <a:solidFill>
                            <a:srgbClr val="3A4652"/>
                          </a:solidFill>
                        </a:rPr>
                        <a:t>Rs 0</a:t>
                      </a:r>
                    </a:p>
                  </a:txBody>
                  <a:tcPr marL="73152" marR="73152" marT="27432" marB="27432" anchor="ctr">
                    <a:solidFill>
                      <a:srgbClr val="FFFFFF"/>
                    </a:solidFill>
                  </a:tcPr>
                </a:tc>
              </a:tr>
              <a:tr h="274320">
                <a:tc>
                  <a:txBody>
                    <a:bodyPr/>
                    <a:lstStyle/>
                    <a:p>
                      <a:pPr algn="l"/>
                      <a:r>
                        <a:rPr sz="1100" b="0">
                          <a:solidFill>
                            <a:srgbClr val="3A4652"/>
                          </a:solidFill>
                        </a:rPr>
                        <a:t>Rules + classifiers</a:t>
                      </a:r>
                    </a:p>
                  </a:txBody>
                  <a:tcPr marL="73152" marR="73152" marT="27432" marB="27432" anchor="ctr">
                    <a:solidFill>
                      <a:srgbClr val="FFFFFF"/>
                    </a:solidFill>
                  </a:tcPr>
                </a:tc>
                <a:tc>
                  <a:txBody>
                    <a:bodyPr/>
                    <a:lstStyle/>
                    <a:p>
                      <a:pPr algn="r"/>
                      <a:r>
                        <a:rPr sz="1100" b="0">
                          <a:solidFill>
                            <a:srgbClr val="3A4652"/>
                          </a:solidFill>
                        </a:rPr>
                        <a:t>93.5%</a:t>
                      </a:r>
                    </a:p>
                  </a:txBody>
                  <a:tcPr marL="73152" marR="73152" marT="27432" marB="27432" anchor="ctr">
                    <a:solidFill>
                      <a:srgbClr val="FFFFFF"/>
                    </a:solidFill>
                  </a:tcPr>
                </a:tc>
                <a:tc>
                  <a:txBody>
                    <a:bodyPr/>
                    <a:lstStyle/>
                    <a:p>
                      <a:pPr algn="r"/>
                      <a:r>
                        <a:rPr sz="1100" b="0">
                          <a:solidFill>
                            <a:srgbClr val="3A4652"/>
                          </a:solidFill>
                        </a:rPr>
                        <a:t>7.4%</a:t>
                      </a:r>
                    </a:p>
                  </a:txBody>
                  <a:tcPr marL="73152" marR="73152" marT="27432" marB="27432" anchor="ctr">
                    <a:solidFill>
                      <a:srgbClr val="FFFFFF"/>
                    </a:solidFill>
                  </a:tcPr>
                </a:tc>
                <a:tc>
                  <a:txBody>
                    <a:bodyPr/>
                    <a:lstStyle/>
                    <a:p>
                      <a:pPr algn="r"/>
                      <a:r>
                        <a:rPr sz="1100" b="0">
                          <a:solidFill>
                            <a:srgbClr val="3A4652"/>
                          </a:solidFill>
                        </a:rPr>
                        <a:t>0%</a:t>
                      </a:r>
                    </a:p>
                  </a:txBody>
                  <a:tcPr marL="73152" marR="73152" marT="27432" marB="27432" anchor="ctr">
                    <a:solidFill>
                      <a:srgbClr val="FFFFFF"/>
                    </a:solidFill>
                  </a:tcPr>
                </a:tc>
                <a:tc>
                  <a:txBody>
                    <a:bodyPr/>
                    <a:lstStyle/>
                    <a:p>
                      <a:pPr algn="r"/>
                      <a:r>
                        <a:rPr sz="1100" b="0">
                          <a:solidFill>
                            <a:srgbClr val="3A4652"/>
                          </a:solidFill>
                        </a:rPr>
                        <a:t>140 ms</a:t>
                      </a:r>
                    </a:p>
                  </a:txBody>
                  <a:tcPr marL="73152" marR="73152" marT="27432" marB="27432" anchor="ctr">
                    <a:solidFill>
                      <a:srgbClr val="FFFFFF"/>
                    </a:solidFill>
                  </a:tcPr>
                </a:tc>
                <a:tc>
                  <a:txBody>
                    <a:bodyPr/>
                    <a:lstStyle/>
                    <a:p>
                      <a:pPr algn="l"/>
                      <a:r>
                        <a:rPr sz="1100" b="0">
                          <a:solidFill>
                            <a:srgbClr val="3A4652"/>
                          </a:solidFill>
                        </a:rPr>
                        <a:t>Rs 0.35</a:t>
                      </a:r>
                    </a:p>
                  </a:txBody>
                  <a:tcPr marL="73152" marR="73152" marT="27432" marB="27432" anchor="ctr">
                    <a:solidFill>
                      <a:srgbClr val="FFFFFF"/>
                    </a:solidFill>
                  </a:tcPr>
                </a:tc>
              </a:tr>
              <a:tr h="274320">
                <a:tc>
                  <a:txBody>
                    <a:bodyPr/>
                    <a:lstStyle/>
                    <a:p>
                      <a:pPr algn="l"/>
                      <a:r>
                        <a:rPr sz="1100" b="1">
                          <a:solidFill>
                            <a:srgbClr val="16202B"/>
                          </a:solidFill>
                        </a:rPr>
                        <a:t>The cascade</a:t>
                      </a:r>
                    </a:p>
                  </a:txBody>
                  <a:tcPr marL="73152" marR="73152" marT="27432" marB="27432" anchor="ctr">
                    <a:solidFill>
                      <a:srgbClr val="F4F1F8"/>
                    </a:solidFill>
                  </a:tcPr>
                </a:tc>
                <a:tc>
                  <a:txBody>
                    <a:bodyPr/>
                    <a:lstStyle/>
                    <a:p>
                      <a:pPr algn="r"/>
                      <a:r>
                        <a:rPr sz="1100" b="1">
                          <a:solidFill>
                            <a:srgbClr val="16202B"/>
                          </a:solidFill>
                        </a:rPr>
                        <a:t>94.6%</a:t>
                      </a:r>
                    </a:p>
                  </a:txBody>
                  <a:tcPr marL="73152" marR="73152" marT="27432" marB="27432" anchor="ctr">
                    <a:solidFill>
                      <a:srgbClr val="F4F1F8"/>
                    </a:solidFill>
                  </a:tcPr>
                </a:tc>
                <a:tc>
                  <a:txBody>
                    <a:bodyPr/>
                    <a:lstStyle/>
                    <a:p>
                      <a:pPr algn="r"/>
                      <a:r>
                        <a:rPr sz="1100" b="1">
                          <a:solidFill>
                            <a:srgbClr val="16202B"/>
                          </a:solidFill>
                        </a:rPr>
                        <a:t>7.4%</a:t>
                      </a:r>
                    </a:p>
                  </a:txBody>
                  <a:tcPr marL="73152" marR="73152" marT="27432" marB="27432" anchor="ctr">
                    <a:solidFill>
                      <a:srgbClr val="F4F1F8"/>
                    </a:solidFill>
                  </a:tcPr>
                </a:tc>
                <a:tc>
                  <a:txBody>
                    <a:bodyPr/>
                    <a:lstStyle/>
                    <a:p>
                      <a:pPr algn="r"/>
                      <a:r>
                        <a:rPr sz="1100" b="1">
                          <a:solidFill>
                            <a:srgbClr val="16202B"/>
                          </a:solidFill>
                        </a:rPr>
                        <a:t>2.8%</a:t>
                      </a:r>
                    </a:p>
                  </a:txBody>
                  <a:tcPr marL="73152" marR="73152" marT="27432" marB="27432" anchor="ctr">
                    <a:solidFill>
                      <a:srgbClr val="F4F1F8"/>
                    </a:solidFill>
                  </a:tcPr>
                </a:tc>
                <a:tc>
                  <a:txBody>
                    <a:bodyPr/>
                    <a:lstStyle/>
                    <a:p>
                      <a:pPr algn="r"/>
                      <a:r>
                        <a:rPr sz="1100" b="1">
                          <a:solidFill>
                            <a:srgbClr val="16202B"/>
                          </a:solidFill>
                        </a:rPr>
                        <a:t>175 ms</a:t>
                      </a:r>
                    </a:p>
                  </a:txBody>
                  <a:tcPr marL="73152" marR="73152" marT="27432" marB="27432" anchor="ctr">
                    <a:solidFill>
                      <a:srgbClr val="F4F1F8"/>
                    </a:solidFill>
                  </a:tcPr>
                </a:tc>
                <a:tc>
                  <a:txBody>
                    <a:bodyPr/>
                    <a:lstStyle/>
                    <a:p>
                      <a:pPr algn="l"/>
                      <a:r>
                        <a:rPr sz="1100" b="1">
                          <a:solidFill>
                            <a:srgbClr val="16202B"/>
                          </a:solidFill>
                        </a:rPr>
                        <a:t>Rs 1.10</a:t>
                      </a:r>
                    </a:p>
                  </a:txBody>
                  <a:tcPr marL="73152" marR="73152" marT="27432" marB="27432" anchor="ctr">
                    <a:solidFill>
                      <a:srgbClr val="F4F1F8"/>
                    </a:solidFill>
                  </a:tcPr>
                </a:tc>
              </a:tr>
              <a:tr h="274320">
                <a:tc>
                  <a:txBody>
                    <a:bodyPr/>
                    <a:lstStyle/>
                    <a:p>
                      <a:pPr algn="l"/>
                      <a:r>
                        <a:rPr sz="1100" b="0">
                          <a:solidFill>
                            <a:srgbClr val="3A4652"/>
                          </a:solidFill>
                        </a:rPr>
                        <a:t>A judge on every response</a:t>
                      </a:r>
                    </a:p>
                  </a:txBody>
                  <a:tcPr marL="73152" marR="73152" marT="27432" marB="27432" anchor="ctr">
                    <a:solidFill>
                      <a:srgbClr val="FFFFFF"/>
                    </a:solidFill>
                  </a:tcPr>
                </a:tc>
                <a:tc>
                  <a:txBody>
                    <a:bodyPr/>
                    <a:lstStyle/>
                    <a:p>
                      <a:pPr algn="r"/>
                      <a:r>
                        <a:rPr sz="1100" b="0">
                          <a:solidFill>
                            <a:srgbClr val="3A4652"/>
                          </a:solidFill>
                        </a:rPr>
                        <a:t>92.4%</a:t>
                      </a:r>
                    </a:p>
                  </a:txBody>
                  <a:tcPr marL="73152" marR="73152" marT="27432" marB="27432" anchor="ctr">
                    <a:solidFill>
                      <a:srgbClr val="FFFFFF"/>
                    </a:solidFill>
                  </a:tcPr>
                </a:tc>
                <a:tc>
                  <a:txBody>
                    <a:bodyPr/>
                    <a:lstStyle/>
                    <a:p>
                      <a:pPr algn="r"/>
                      <a:r>
                        <a:rPr sz="1100" b="0">
                          <a:solidFill>
                            <a:srgbClr val="3A4652"/>
                          </a:solidFill>
                        </a:rPr>
                        <a:t>14.8%</a:t>
                      </a:r>
                    </a:p>
                  </a:txBody>
                  <a:tcPr marL="73152" marR="73152" marT="27432" marB="27432" anchor="ctr">
                    <a:solidFill>
                      <a:srgbClr val="FFFFFF"/>
                    </a:solidFill>
                  </a:tcPr>
                </a:tc>
                <a:tc>
                  <a:txBody>
                    <a:bodyPr/>
                    <a:lstStyle/>
                    <a:p>
                      <a:pPr algn="r"/>
                      <a:r>
                        <a:rPr sz="1100" b="0">
                          <a:solidFill>
                            <a:srgbClr val="3A4652"/>
                          </a:solidFill>
                        </a:rPr>
                        <a:t>100%</a:t>
                      </a:r>
                    </a:p>
                  </a:txBody>
                  <a:tcPr marL="73152" marR="73152" marT="27432" marB="27432" anchor="ctr">
                    <a:solidFill>
                      <a:srgbClr val="FFFFFF"/>
                    </a:solidFill>
                  </a:tcPr>
                </a:tc>
                <a:tc>
                  <a:txBody>
                    <a:bodyPr/>
                    <a:lstStyle/>
                    <a:p>
                      <a:pPr algn="r"/>
                      <a:r>
                        <a:rPr sz="1100" b="0">
                          <a:solidFill>
                            <a:srgbClr val="3A4652"/>
                          </a:solidFill>
                        </a:rPr>
                        <a:t>5,534 ms</a:t>
                      </a:r>
                    </a:p>
                  </a:txBody>
                  <a:tcPr marL="73152" marR="73152" marT="27432" marB="27432" anchor="ctr">
                    <a:solidFill>
                      <a:srgbClr val="FFFFFF"/>
                    </a:solidFill>
                  </a:tcPr>
                </a:tc>
                <a:tc>
                  <a:txBody>
                    <a:bodyPr/>
                    <a:lstStyle/>
                    <a:p>
                      <a:pPr algn="l"/>
                      <a:r>
                        <a:rPr sz="1100" b="0">
                          <a:solidFill>
                            <a:srgbClr val="3A4652"/>
                          </a:solidFill>
                        </a:rPr>
                        <a:t>Rs 30.01</a:t>
                      </a:r>
                    </a:p>
                  </a:txBody>
                  <a:tcPr marL="73152" marR="73152" marT="27432" marB="27432" anchor="ctr">
                    <a:solidFill>
                      <a:srgbClr val="FFFFFF"/>
                    </a:solidFill>
                  </a:tcPr>
                </a:tc>
              </a:tr>
            </a:tbl>
          </a:graphicData>
        </a:graphic>
      </p:graphicFrame>
      <p:sp>
        <p:nvSpPr>
          <p:cNvPr id="5" name="TextBox 4"/>
          <p:cNvSpPr txBox="1"/>
          <p:nvPr/>
        </p:nvSpPr>
        <p:spPr>
          <a:xfrm>
            <a:off x="557784" y="3566160"/>
            <a:ext cx="11064240" cy="2194560"/>
          </a:xfrm>
          <a:prstGeom prst="rect">
            <a:avLst/>
          </a:prstGeom>
          <a:noFill/>
        </p:spPr>
        <p:txBody>
          <a:bodyPr wrap="square">
            <a:spAutoFit/>
          </a:bodyPr>
          <a:lstStyle/>
          <a:p>
            <a:pPr>
              <a:spcAft>
                <a:spcPts val="1200"/>
              </a:spcAft>
            </a:pPr>
            <a:r>
              <a:rPr sz="1400" b="1">
                <a:solidFill>
                  <a:srgbClr val="16202B"/>
                </a:solidFill>
              </a:rPr>
              <a:t>The cascade catches more than judging every response — 94.6% against 92.4% — at 3.7% of the cost, with half the false positives and 32× lower latency.</a:t>
            </a:r>
          </a:p>
          <a:p>
            <a:pPr>
              <a:spcAft>
                <a:spcPts val="0"/>
              </a:spcAft>
            </a:pPr>
            <a:r>
              <a:rPr sz="1200" b="0">
                <a:solidFill>
                  <a:srgbClr val="3A4652"/>
                </a:solidFill>
              </a:rPr>
              <a:t>That the judge-everything baseline is worse on both is not a rhetorical win. A judge asked to re-rule on claims tier 1 already had right sometimes overrules them, and it does so in both directions. Selectivity is not only cheaper here, it is more accurate — measured against a live judge, not a stand-in.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What it cannot do</a:t>
            </a:r>
          </a:p>
        </p:txBody>
      </p:sp>
      <p:sp>
        <p:nvSpPr>
          <p:cNvPr id="3" name="TextBox 2"/>
          <p:cNvSpPr txBox="1"/>
          <p:nvPr/>
        </p:nvSpPr>
        <p:spPr>
          <a:xfrm>
            <a:off x="557784" y="1060704"/>
            <a:ext cx="11064240" cy="457200"/>
          </a:xfrm>
          <a:prstGeom prst="rect">
            <a:avLst/>
          </a:prstGeom>
          <a:noFill/>
        </p:spPr>
        <p:txBody>
          <a:bodyPr wrap="square">
            <a:spAutoFit/>
          </a:bodyPr>
          <a:lstStyle/>
          <a:p>
            <a:r>
              <a:rPr sz="1250">
                <a:solidFill>
                  <a:srgbClr val="6B7782"/>
                </a:solidFill>
              </a:rPr>
              <a:t>Stated because a benchmark that reports only its wins is a brochure.</a:t>
            </a:r>
          </a:p>
        </p:txBody>
      </p:sp>
      <p:graphicFrame>
        <p:nvGraphicFramePr>
          <p:cNvPr id="4" name="Table 3"/>
          <p:cNvGraphicFramePr>
            <a:graphicFrameLocks noGrp="1"/>
          </p:cNvGraphicFramePr>
          <p:nvPr/>
        </p:nvGraphicFramePr>
        <p:xfrm>
          <a:off x="557784" y="1828800"/>
          <a:ext cx="11064240" cy="1408176"/>
        </p:xfrm>
        <a:graphic>
          <a:graphicData uri="http://schemas.openxmlformats.org/drawingml/2006/table">
            <a:tbl>
              <a:tblPr firstRow="1">
                <a:tableStyleId>{5C22544A-7EE6-4342-B048-85BDC9FD1C3A}</a:tableStyleId>
              </a:tblPr>
              <a:tblGrid>
                <a:gridCol w="3657600"/>
                <a:gridCol w="1920240"/>
                <a:gridCol w="5486400"/>
              </a:tblGrid>
              <a:tr h="310896">
                <a:tc>
                  <a:txBody>
                    <a:bodyPr/>
                    <a:lstStyle/>
                    <a:p>
                      <a:pPr algn="l"/>
                      <a:r>
                        <a:rPr sz="950" b="1">
                          <a:solidFill>
                            <a:srgbClr val="6B7782"/>
                          </a:solidFill>
                        </a:rPr>
                        <a:t>Weakness</a:t>
                      </a:r>
                    </a:p>
                  </a:txBody>
                  <a:tcPr marL="73152" marR="73152" marT="27432" marB="27432" anchor="ctr">
                    <a:solidFill>
                      <a:srgbClr val="F4F1F8"/>
                    </a:solidFill>
                  </a:tcPr>
                </a:tc>
                <a:tc>
                  <a:txBody>
                    <a:bodyPr/>
                    <a:lstStyle/>
                    <a:p>
                      <a:pPr algn="l"/>
                      <a:r>
                        <a:rPr sz="950" b="1">
                          <a:solidFill>
                            <a:srgbClr val="6B7782"/>
                          </a:solidFill>
                        </a:rPr>
                        <a:t>Rate</a:t>
                      </a:r>
                    </a:p>
                  </a:txBody>
                  <a:tcPr marL="73152" marR="73152" marT="27432" marB="27432" anchor="ctr">
                    <a:solidFill>
                      <a:srgbClr val="F4F1F8"/>
                    </a:solidFill>
                  </a:tcPr>
                </a:tc>
                <a:tc>
                  <a:txBody>
                    <a:bodyPr/>
                    <a:lstStyle/>
                    <a:p>
                      <a:pPr algn="l"/>
                      <a:r>
                        <a:rPr sz="950" b="1">
                          <a:solidFill>
                            <a:srgbClr val="6B7782"/>
                          </a:solidFill>
                        </a:rPr>
                        <a:t>Why</a:t>
                      </a:r>
                    </a:p>
                  </a:txBody>
                  <a:tcPr marL="73152" marR="73152" marT="27432" marB="27432" anchor="ctr">
                    <a:solidFill>
                      <a:srgbClr val="F4F1F8"/>
                    </a:solidFill>
                  </a:tcPr>
                </a:tc>
              </a:tr>
              <a:tr h="274320">
                <a:tc>
                  <a:txBody>
                    <a:bodyPr/>
                    <a:lstStyle/>
                    <a:p>
                      <a:pPr algn="l"/>
                      <a:r>
                        <a:rPr sz="1100" b="0">
                          <a:solidFill>
                            <a:srgbClr val="3A4652"/>
                          </a:solidFill>
                        </a:rPr>
                        <a:t>Multi-hop claims</a:t>
                      </a:r>
                    </a:p>
                  </a:txBody>
                  <a:tcPr marL="73152" marR="73152" marT="27432" marB="27432" anchor="ctr">
                    <a:solidFill>
                      <a:srgbClr val="FFFFFF"/>
                    </a:solidFill>
                  </a:tcPr>
                </a:tc>
                <a:tc>
                  <a:txBody>
                    <a:bodyPr/>
                    <a:lstStyle/>
                    <a:p>
                      <a:pPr algn="r"/>
                      <a:r>
                        <a:rPr sz="1100" b="0">
                          <a:solidFill>
                            <a:srgbClr val="3A4652"/>
                          </a:solidFill>
                        </a:rPr>
                        <a:t>3 of 9</a:t>
                      </a:r>
                    </a:p>
                  </a:txBody>
                  <a:tcPr marL="73152" marR="73152" marT="27432" marB="27432" anchor="ctr">
                    <a:solidFill>
                      <a:srgbClr val="FFFFFF"/>
                    </a:solidFill>
                  </a:tcPr>
                </a:tc>
                <a:tc>
                  <a:txBody>
                    <a:bodyPr/>
                    <a:lstStyle/>
                    <a:p>
                      <a:pPr algn="l"/>
                      <a:r>
                        <a:rPr sz="1100" b="0">
                          <a:solidFill>
                            <a:srgbClr val="3A4652"/>
                          </a:solidFill>
                        </a:rPr>
                        <a:t>True only by combining two sources; entails neither alone</a:t>
                      </a:r>
                    </a:p>
                  </a:txBody>
                  <a:tcPr marL="73152" marR="73152" marT="27432" marB="27432" anchor="ctr">
                    <a:solidFill>
                      <a:srgbClr val="FFFFFF"/>
                    </a:solidFill>
                  </a:tcPr>
                </a:tc>
              </a:tr>
              <a:tr h="274320">
                <a:tc>
                  <a:txBody>
                    <a:bodyPr/>
                    <a:lstStyle/>
                    <a:p>
                      <a:pPr algn="l"/>
                      <a:r>
                        <a:rPr sz="1100" b="0">
                          <a:solidFill>
                            <a:srgbClr val="3A4652"/>
                          </a:solidFill>
                        </a:rPr>
                        <a:t>Quantifier flips</a:t>
                      </a:r>
                    </a:p>
                  </a:txBody>
                  <a:tcPr marL="73152" marR="73152" marT="27432" marB="27432" anchor="ctr">
                    <a:solidFill>
                      <a:srgbClr val="FFFFFF"/>
                    </a:solidFill>
                  </a:tcPr>
                </a:tc>
                <a:tc>
                  <a:txBody>
                    <a:bodyPr/>
                    <a:lstStyle/>
                    <a:p>
                      <a:pPr algn="r"/>
                      <a:r>
                        <a:rPr sz="1100" b="0">
                          <a:solidFill>
                            <a:srgbClr val="3A4652"/>
                          </a:solidFill>
                        </a:rPr>
                        <a:t>8 of 15 caught</a:t>
                      </a:r>
                    </a:p>
                  </a:txBody>
                  <a:tcPr marL="73152" marR="73152" marT="27432" marB="27432" anchor="ctr">
                    <a:solidFill>
                      <a:srgbClr val="FFFFFF"/>
                    </a:solidFill>
                  </a:tcPr>
                </a:tc>
                <a:tc>
                  <a:txBody>
                    <a:bodyPr/>
                    <a:lstStyle/>
                    <a:p>
                      <a:pPr algn="l"/>
                      <a:r>
                        <a:rPr sz="1100" b="0">
                          <a:solidFill>
                            <a:srgbClr val="3A4652"/>
                          </a:solidFill>
                        </a:rPr>
                        <a:t>"up to X" against "at least X" — one word, the opposite meaning</a:t>
                      </a:r>
                    </a:p>
                  </a:txBody>
                  <a:tcPr marL="73152" marR="73152" marT="27432" marB="27432" anchor="ctr">
                    <a:solidFill>
                      <a:srgbClr val="FFFFFF"/>
                    </a:solidFill>
                  </a:tcPr>
                </a:tc>
              </a:tr>
              <a:tr h="274320">
                <a:tc>
                  <a:txBody>
                    <a:bodyPr/>
                    <a:lstStyle/>
                    <a:p>
                      <a:pPr algn="l"/>
                      <a:r>
                        <a:rPr sz="1100" b="0">
                          <a:solidFill>
                            <a:srgbClr val="3A4652"/>
                          </a:solidFill>
                        </a:rPr>
                        <a:t>Hedged but correct</a:t>
                      </a:r>
                    </a:p>
                  </a:txBody>
                  <a:tcPr marL="73152" marR="73152" marT="27432" marB="27432" anchor="ctr">
                    <a:solidFill>
                      <a:srgbClr val="FFFFFF"/>
                    </a:solidFill>
                  </a:tcPr>
                </a:tc>
                <a:tc>
                  <a:txBody>
                    <a:bodyPr/>
                    <a:lstStyle/>
                    <a:p>
                      <a:pPr algn="r"/>
                      <a:r>
                        <a:rPr sz="1100" b="0">
                          <a:solidFill>
                            <a:srgbClr val="3A4652"/>
                          </a:solidFill>
                        </a:rPr>
                        <a:t>11 of 15</a:t>
                      </a:r>
                    </a:p>
                  </a:txBody>
                  <a:tcPr marL="73152" marR="73152" marT="27432" marB="27432" anchor="ctr">
                    <a:solidFill>
                      <a:srgbClr val="FFFFFF"/>
                    </a:solidFill>
                  </a:tcPr>
                </a:tc>
                <a:tc>
                  <a:txBody>
                    <a:bodyPr/>
                    <a:lstStyle/>
                    <a:p>
                      <a:pPr algn="l"/>
                      <a:r>
                        <a:rPr sz="1100" b="0">
                          <a:solidFill>
                            <a:srgbClr val="3A4652"/>
                          </a:solidFill>
                        </a:rPr>
                        <a:t>Hedging reads as distance from the source</a:t>
                      </a:r>
                    </a:p>
                  </a:txBody>
                  <a:tcPr marL="73152" marR="73152" marT="27432" marB="27432" anchor="ctr">
                    <a:solidFill>
                      <a:srgbClr val="FFFFFF"/>
                    </a:solidFill>
                  </a:tcPr>
                </a:tc>
              </a:tr>
              <a:tr h="274320">
                <a:tc>
                  <a:txBody>
                    <a:bodyPr/>
                    <a:lstStyle/>
                    <a:p>
                      <a:pPr algn="l"/>
                      <a:r>
                        <a:rPr sz="1100" b="0">
                          <a:solidFill>
                            <a:srgbClr val="3A4652"/>
                          </a:solidFill>
                        </a:rPr>
                        <a:t>Two policies over their own latency budgets</a:t>
                      </a:r>
                    </a:p>
                  </a:txBody>
                  <a:tcPr marL="73152" marR="73152" marT="27432" marB="27432" anchor="ctr">
                    <a:solidFill>
                      <a:srgbClr val="FFFFFF"/>
                    </a:solidFill>
                  </a:tcPr>
                </a:tc>
                <a:tc>
                  <a:txBody>
                    <a:bodyPr/>
                    <a:lstStyle/>
                    <a:p>
                      <a:pPr algn="r"/>
                      <a:r>
                        <a:rPr sz="1100" b="0">
                          <a:solidFill>
                            <a:srgbClr val="3A4652"/>
                          </a:solidFill>
                        </a:rPr>
                        <a:t>1225 / 3914 ms</a:t>
                      </a:r>
                    </a:p>
                  </a:txBody>
                  <a:tcPr marL="73152" marR="73152" marT="27432" marB="27432" anchor="ctr">
                    <a:solidFill>
                      <a:srgbClr val="FFFFFF"/>
                    </a:solidFill>
                  </a:tcPr>
                </a:tc>
                <a:tc>
                  <a:txBody>
                    <a:bodyPr/>
                    <a:lstStyle/>
                    <a:p>
                      <a:pPr algn="l"/>
                      <a:r>
                        <a:rPr sz="1100" b="0">
                          <a:solidFill>
                            <a:srgbClr val="3A4652"/>
                          </a:solidFill>
                        </a:rPr>
                        <a:t>A judge call is seconds; a budget in hundreds of ms cannot absorb one</a:t>
                      </a:r>
                    </a:p>
                  </a:txBody>
                  <a:tcPr marL="73152" marR="73152" marT="27432" marB="27432" anchor="ctr">
                    <a:solidFill>
                      <a:srgbClr val="FFFFFF"/>
                    </a:solidFill>
                  </a:tcPr>
                </a:tc>
              </a:tr>
            </a:tbl>
          </a:graphicData>
        </a:graphic>
      </p:graphicFrame>
      <p:sp>
        <p:nvSpPr>
          <p:cNvPr id="5" name="TextBox 4"/>
          <p:cNvSpPr txBox="1"/>
          <p:nvPr/>
        </p:nvSpPr>
        <p:spPr>
          <a:xfrm>
            <a:off x="557784" y="3840480"/>
            <a:ext cx="11064240" cy="2011680"/>
          </a:xfrm>
          <a:prstGeom prst="rect">
            <a:avLst/>
          </a:prstGeom>
          <a:noFill/>
        </p:spPr>
        <p:txBody>
          <a:bodyPr wrap="square">
            <a:spAutoFit/>
          </a:bodyPr>
          <a:lstStyle/>
          <a:p>
            <a:pPr>
              <a:spcAft>
                <a:spcPts val="1200"/>
              </a:spcAft>
            </a:pPr>
            <a:r>
              <a:rPr sz="1200" b="0">
                <a:solidFill>
                  <a:srgbClr val="3A4652"/>
                </a:solidFill>
              </a:rPr>
              <a:t>The eval set is synthetic and was written by the same person who tuned the checker. An earlier version scored 100% on every case type — which is exactly why the adversarial cases exist.</a:t>
            </a:r>
          </a:p>
          <a:p>
            <a:pPr>
              <a:spcAft>
                <a:spcPts val="0"/>
              </a:spcAft>
            </a:pPr>
            <a:r>
              <a:rPr sz="1200" b="1">
                <a:solidFill>
                  <a:srgbClr val="16202B"/>
                </a:solidFill>
              </a:rPr>
              <a:t>These numbers are a floor on difficulty, not a ceiling on quality.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Who this is for</a:t>
            </a:r>
          </a:p>
        </p:txBody>
      </p:sp>
      <p:graphicFrame>
        <p:nvGraphicFramePr>
          <p:cNvPr id="3" name="Table 2"/>
          <p:cNvGraphicFramePr>
            <a:graphicFrameLocks noGrp="1"/>
          </p:cNvGraphicFramePr>
          <p:nvPr/>
        </p:nvGraphicFramePr>
        <p:xfrm>
          <a:off x="557784" y="1737360"/>
          <a:ext cx="11064240" cy="1408176"/>
        </p:xfrm>
        <a:graphic>
          <a:graphicData uri="http://schemas.openxmlformats.org/drawingml/2006/table">
            <a:tbl>
              <a:tblPr firstRow="1">
                <a:tableStyleId>{5C22544A-7EE6-4342-B048-85BDC9FD1C3A}</a:tableStyleId>
              </a:tblPr>
              <a:tblGrid>
                <a:gridCol w="3108960"/>
                <a:gridCol w="4937760"/>
                <a:gridCol w="3017520"/>
              </a:tblGrid>
              <a:tr h="310896">
                <a:tc>
                  <a:txBody>
                    <a:bodyPr/>
                    <a:lstStyle/>
                    <a:p>
                      <a:pPr algn="l"/>
                      <a:r>
                        <a:rPr sz="950" b="1">
                          <a:solidFill>
                            <a:srgbClr val="6B7782"/>
                          </a:solidFill>
                        </a:rPr>
                        <a:t>Who</a:t>
                      </a:r>
                    </a:p>
                  </a:txBody>
                  <a:tcPr marL="73152" marR="73152" marT="27432" marB="27432" anchor="ctr">
                    <a:solidFill>
                      <a:srgbClr val="F4F1F8"/>
                    </a:solidFill>
                  </a:tcPr>
                </a:tc>
                <a:tc>
                  <a:txBody>
                    <a:bodyPr/>
                    <a:lstStyle/>
                    <a:p>
                      <a:pPr algn="l"/>
                      <a:r>
                        <a:rPr sz="950" b="1">
                          <a:solidFill>
                            <a:srgbClr val="6B7782"/>
                          </a:solidFill>
                        </a:rPr>
                        <a:t>What they need</a:t>
                      </a:r>
                    </a:p>
                  </a:txBody>
                  <a:tcPr marL="73152" marR="73152" marT="27432" marB="27432" anchor="ctr">
                    <a:solidFill>
                      <a:srgbClr val="F4F1F8"/>
                    </a:solidFill>
                  </a:tcPr>
                </a:tc>
                <a:tc>
                  <a:txBody>
                    <a:bodyPr/>
                    <a:lstStyle/>
                    <a:p>
                      <a:pPr algn="l"/>
                      <a:r>
                        <a:rPr sz="950" b="1">
                          <a:solidFill>
                            <a:srgbClr val="6B7782"/>
                          </a:solidFill>
                        </a:rPr>
                        <a:t>What they touch</a:t>
                      </a:r>
                    </a:p>
                  </a:txBody>
                  <a:tcPr marL="73152" marR="73152" marT="27432" marB="27432" anchor="ctr">
                    <a:solidFill>
                      <a:srgbClr val="F4F1F8"/>
                    </a:solidFill>
                  </a:tcPr>
                </a:tc>
              </a:tr>
              <a:tr h="274320">
                <a:tc>
                  <a:txBody>
                    <a:bodyPr/>
                    <a:lstStyle/>
                    <a:p>
                      <a:pPr algn="l"/>
                      <a:r>
                        <a:rPr sz="1100" b="0">
                          <a:solidFill>
                            <a:srgbClr val="3A4652"/>
                          </a:solidFill>
                        </a:rPr>
                        <a:t>Platform / ML engineering</a:t>
                      </a:r>
                    </a:p>
                  </a:txBody>
                  <a:tcPr marL="73152" marR="73152" marT="27432" marB="27432" anchor="ctr">
                    <a:solidFill>
                      <a:srgbClr val="FFFFFF"/>
                    </a:solidFill>
                  </a:tcPr>
                </a:tc>
                <a:tc>
                  <a:txBody>
                    <a:bodyPr/>
                    <a:lstStyle/>
                    <a:p>
                      <a:pPr algn="l"/>
                      <a:r>
                        <a:rPr sz="1100" b="0">
                          <a:solidFill>
                            <a:srgbClr val="3A4652"/>
                          </a:solidFill>
                        </a:rPr>
                        <a:t>Ship AI features without owning risk review</a:t>
                      </a:r>
                    </a:p>
                  </a:txBody>
                  <a:tcPr marL="73152" marR="73152" marT="27432" marB="27432" anchor="ctr">
                    <a:solidFill>
                      <a:srgbClr val="FFFFFF"/>
                    </a:solidFill>
                  </a:tcPr>
                </a:tc>
                <a:tc>
                  <a:txBody>
                    <a:bodyPr/>
                    <a:lstStyle/>
                    <a:p>
                      <a:pPr algn="l"/>
                      <a:r>
                        <a:rPr sz="1100" b="0">
                          <a:solidFill>
                            <a:srgbClr val="3A4652"/>
                          </a:solidFill>
                        </a:rPr>
                        <a:t>A base URL change</a:t>
                      </a:r>
                    </a:p>
                  </a:txBody>
                  <a:tcPr marL="73152" marR="73152" marT="27432" marB="27432" anchor="ctr">
                    <a:solidFill>
                      <a:srgbClr val="FFFFFF"/>
                    </a:solidFill>
                  </a:tcPr>
                </a:tc>
              </a:tr>
              <a:tr h="274320">
                <a:tc>
                  <a:txBody>
                    <a:bodyPr/>
                    <a:lstStyle/>
                    <a:p>
                      <a:pPr algn="l"/>
                      <a:r>
                        <a:rPr sz="1100" b="0">
                          <a:solidFill>
                            <a:srgbClr val="3A4652"/>
                          </a:solidFill>
                        </a:rPr>
                        <a:t>Risk, compliance, legal</a:t>
                      </a:r>
                    </a:p>
                  </a:txBody>
                  <a:tcPr marL="73152" marR="73152" marT="27432" marB="27432" anchor="ctr">
                    <a:solidFill>
                      <a:srgbClr val="FFFFFF"/>
                    </a:solidFill>
                  </a:tcPr>
                </a:tc>
                <a:tc>
                  <a:txBody>
                    <a:bodyPr/>
                    <a:lstStyle/>
                    <a:p>
                      <a:pPr algn="l"/>
                      <a:r>
                        <a:rPr sz="1100" b="0">
                          <a:solidFill>
                            <a:srgbClr val="3A4652"/>
                          </a:solidFill>
                        </a:rPr>
                        <a:t>Evidence a decision was checked, and by what rule</a:t>
                      </a:r>
                    </a:p>
                  </a:txBody>
                  <a:tcPr marL="73152" marR="73152" marT="27432" marB="27432" anchor="ctr">
                    <a:solidFill>
                      <a:srgbClr val="FFFFFF"/>
                    </a:solidFill>
                  </a:tcPr>
                </a:tc>
                <a:tc>
                  <a:txBody>
                    <a:bodyPr/>
                    <a:lstStyle/>
                    <a:p>
                      <a:pPr algn="l"/>
                      <a:r>
                        <a:rPr sz="1100" b="0">
                          <a:solidFill>
                            <a:srgbClr val="3A4652"/>
                          </a:solidFill>
                        </a:rPr>
                        <a:t>Audit export, policy YAML</a:t>
                      </a:r>
                    </a:p>
                  </a:txBody>
                  <a:tcPr marL="73152" marR="73152" marT="27432" marB="27432" anchor="ctr">
                    <a:solidFill>
                      <a:srgbClr val="FFFFFF"/>
                    </a:solidFill>
                  </a:tcPr>
                </a:tc>
              </a:tr>
              <a:tr h="274320">
                <a:tc>
                  <a:txBody>
                    <a:bodyPr/>
                    <a:lstStyle/>
                    <a:p>
                      <a:pPr algn="l"/>
                      <a:r>
                        <a:rPr sz="1100" b="0">
                          <a:solidFill>
                            <a:srgbClr val="3A4652"/>
                          </a:solidFill>
                        </a:rPr>
                        <a:t>Review operations</a:t>
                      </a:r>
                    </a:p>
                  </a:txBody>
                  <a:tcPr marL="73152" marR="73152" marT="27432" marB="27432" anchor="ctr">
                    <a:solidFill>
                      <a:srgbClr val="FFFFFF"/>
                    </a:solidFill>
                  </a:tcPr>
                </a:tc>
                <a:tc>
                  <a:txBody>
                    <a:bodyPr/>
                    <a:lstStyle/>
                    <a:p>
                      <a:pPr algn="l"/>
                      <a:r>
                        <a:rPr sz="1100" b="0">
                          <a:solidFill>
                            <a:srgbClr val="3A4652"/>
                          </a:solidFill>
                        </a:rPr>
                        <a:t>A queue sized to their headcount</a:t>
                      </a:r>
                    </a:p>
                  </a:txBody>
                  <a:tcPr marL="73152" marR="73152" marT="27432" marB="27432" anchor="ctr">
                    <a:solidFill>
                      <a:srgbClr val="FFFFFF"/>
                    </a:solidFill>
                  </a:tcPr>
                </a:tc>
                <a:tc>
                  <a:txBody>
                    <a:bodyPr/>
                    <a:lstStyle/>
                    <a:p>
                      <a:pPr algn="l"/>
                      <a:r>
                        <a:rPr sz="1100" b="0">
                          <a:solidFill>
                            <a:srgbClr val="3A4652"/>
                          </a:solidFill>
                        </a:rPr>
                        <a:t>Escalation queue, capacity cap</a:t>
                      </a:r>
                    </a:p>
                  </a:txBody>
                  <a:tcPr marL="73152" marR="73152" marT="27432" marB="27432" anchor="ctr">
                    <a:solidFill>
                      <a:srgbClr val="FFFFFF"/>
                    </a:solidFill>
                  </a:tcPr>
                </a:tc>
              </a:tr>
              <a:tr h="274320">
                <a:tc>
                  <a:txBody>
                    <a:bodyPr/>
                    <a:lstStyle/>
                    <a:p>
                      <a:pPr algn="l"/>
                      <a:r>
                        <a:rPr sz="1100" b="0">
                          <a:solidFill>
                            <a:srgbClr val="3A4652"/>
                          </a:solidFill>
                        </a:rPr>
                        <a:t>The business owner</a:t>
                      </a:r>
                    </a:p>
                  </a:txBody>
                  <a:tcPr marL="73152" marR="73152" marT="27432" marB="27432" anchor="ctr">
                    <a:solidFill>
                      <a:srgbClr val="FFFFFF"/>
                    </a:solidFill>
                  </a:tcPr>
                </a:tc>
                <a:tc>
                  <a:txBody>
                    <a:bodyPr/>
                    <a:lstStyle/>
                    <a:p>
                      <a:pPr algn="l"/>
                      <a:r>
                        <a:rPr sz="1100" b="0">
                          <a:solidFill>
                            <a:srgbClr val="3A4652"/>
                          </a:solidFill>
                        </a:rPr>
                        <a:t>Cost per interaction that does not surprise them</a:t>
                      </a:r>
                    </a:p>
                  </a:txBody>
                  <a:tcPr marL="73152" marR="73152" marT="27432" marB="27432" anchor="ctr">
                    <a:solidFill>
                      <a:srgbClr val="FFFFFF"/>
                    </a:solidFill>
                  </a:tcPr>
                </a:tc>
                <a:tc>
                  <a:txBody>
                    <a:bodyPr/>
                    <a:lstStyle/>
                    <a:p>
                      <a:pPr algn="l"/>
                      <a:r>
                        <a:rPr sz="1100" b="0">
                          <a:solidFill>
                            <a:srgbClr val="3A4652"/>
                          </a:solidFill>
                        </a:rPr>
                        <a:t>The cost meter</a:t>
                      </a:r>
                    </a:p>
                  </a:txBody>
                  <a:tcPr marL="73152" marR="73152" marT="27432" marB="27432" anchor="ctr">
                    <a:solidFill>
                      <a:srgbClr val="FFFFFF"/>
                    </a:solidFill>
                  </a:tcPr>
                </a:tc>
              </a:tr>
            </a:tbl>
          </a:graphicData>
        </a:graphic>
      </p:graphicFrame>
      <p:sp>
        <p:nvSpPr>
          <p:cNvPr id="4" name="TextBox 3"/>
          <p:cNvSpPr txBox="1"/>
          <p:nvPr/>
        </p:nvSpPr>
        <p:spPr>
          <a:xfrm>
            <a:off x="557784" y="3840480"/>
            <a:ext cx="11064240" cy="914400"/>
          </a:xfrm>
          <a:prstGeom prst="rect">
            <a:avLst/>
          </a:prstGeom>
          <a:noFill/>
        </p:spPr>
        <p:txBody>
          <a:bodyPr wrap="square">
            <a:spAutoFit/>
          </a:bodyPr>
          <a:lstStyle/>
          <a:p>
            <a:pPr>
              <a:spcAft>
                <a:spcPts val="0"/>
              </a:spcAft>
            </a:pPr>
            <a:r>
              <a:rPr sz="1300" b="1">
                <a:solidFill>
                  <a:srgbClr val="16202B"/>
                </a:solidFill>
              </a:rPr>
              <a:t>The buyer is usually the platform team. The renewal is signed by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The business case</a:t>
            </a:r>
          </a:p>
        </p:txBody>
      </p:sp>
      <p:sp>
        <p:nvSpPr>
          <p:cNvPr id="3" name="TextBox 2"/>
          <p:cNvSpPr txBox="1"/>
          <p:nvPr/>
        </p:nvSpPr>
        <p:spPr>
          <a:xfrm>
            <a:off x="557784" y="1060704"/>
            <a:ext cx="11064240" cy="457200"/>
          </a:xfrm>
          <a:prstGeom prst="rect">
            <a:avLst/>
          </a:prstGeom>
          <a:noFill/>
        </p:spPr>
        <p:txBody>
          <a:bodyPr wrap="square">
            <a:spAutoFit/>
          </a:bodyPr>
          <a:lstStyle/>
          <a:p>
            <a:r>
              <a:rPr sz="1250">
                <a:solidFill>
                  <a:srgbClr val="6B7782"/>
                </a:solidFill>
              </a:rPr>
              <a:t>At the brief's reference volume — 30,000 interactions a week, 1.56 million a year — using measured per-response costs.</a:t>
            </a:r>
          </a:p>
        </p:txBody>
      </p:sp>
      <p:graphicFrame>
        <p:nvGraphicFramePr>
          <p:cNvPr id="4" name="Table 3"/>
          <p:cNvGraphicFramePr>
            <a:graphicFrameLocks noGrp="1"/>
          </p:cNvGraphicFramePr>
          <p:nvPr/>
        </p:nvGraphicFramePr>
        <p:xfrm>
          <a:off x="557784" y="1828800"/>
          <a:ext cx="6583680" cy="1133856"/>
        </p:xfrm>
        <a:graphic>
          <a:graphicData uri="http://schemas.openxmlformats.org/drawingml/2006/table">
            <a:tbl>
              <a:tblPr firstRow="1">
                <a:tableStyleId>{5C22544A-7EE6-4342-B048-85BDC9FD1C3A}</a:tableStyleId>
              </a:tblPr>
              <a:tblGrid>
                <a:gridCol w="2926080"/>
                <a:gridCol w="1828800"/>
                <a:gridCol w="1828800"/>
              </a:tblGrid>
              <a:tr h="310896">
                <a:tc>
                  <a:txBody>
                    <a:bodyPr/>
                    <a:lstStyle/>
                    <a:p>
                      <a:pPr algn="l"/>
                    </a:p>
                  </a:txBody>
                  <a:tcPr marL="73152" marR="73152" marT="27432" marB="27432" anchor="ctr">
                    <a:solidFill>
                      <a:srgbClr val="F4F1F8"/>
                    </a:solidFill>
                  </a:tcPr>
                </a:tc>
                <a:tc>
                  <a:txBody>
                    <a:bodyPr/>
                    <a:lstStyle/>
                    <a:p>
                      <a:pPr algn="l"/>
                      <a:r>
                        <a:rPr sz="950" b="1">
                          <a:solidFill>
                            <a:srgbClr val="6B7782"/>
                          </a:solidFill>
                        </a:rPr>
                        <a:t>Per response</a:t>
                      </a:r>
                    </a:p>
                  </a:txBody>
                  <a:tcPr marL="73152" marR="73152" marT="27432" marB="27432" anchor="ctr">
                    <a:solidFill>
                      <a:srgbClr val="F4F1F8"/>
                    </a:solidFill>
                  </a:tcPr>
                </a:tc>
                <a:tc>
                  <a:txBody>
                    <a:bodyPr/>
                    <a:lstStyle/>
                    <a:p>
                      <a:pPr algn="l"/>
                      <a:r>
                        <a:rPr sz="950" b="1">
                          <a:solidFill>
                            <a:srgbClr val="6B7782"/>
                          </a:solidFill>
                        </a:rPr>
                        <a:t>Per year</a:t>
                      </a:r>
                    </a:p>
                  </a:txBody>
                  <a:tcPr marL="73152" marR="73152" marT="27432" marB="27432" anchor="ctr">
                    <a:solidFill>
                      <a:srgbClr val="F4F1F8"/>
                    </a:solidFill>
                  </a:tcPr>
                </a:tc>
              </a:tr>
              <a:tr h="274320">
                <a:tc>
                  <a:txBody>
                    <a:bodyPr/>
                    <a:lstStyle/>
                    <a:p>
                      <a:pPr algn="l"/>
                      <a:r>
                        <a:rPr sz="1100" b="1">
                          <a:solidFill>
                            <a:srgbClr val="16202B"/>
                          </a:solidFill>
                        </a:rPr>
                        <a:t>ControlPlane cascade</a:t>
                      </a:r>
                    </a:p>
                  </a:txBody>
                  <a:tcPr marL="73152" marR="73152" marT="27432" marB="27432" anchor="ctr">
                    <a:solidFill>
                      <a:srgbClr val="F4F1F8"/>
                    </a:solidFill>
                  </a:tcPr>
                </a:tc>
                <a:tc>
                  <a:txBody>
                    <a:bodyPr/>
                    <a:lstStyle/>
                    <a:p>
                      <a:pPr algn="l"/>
                      <a:r>
                        <a:rPr sz="1100" b="1">
                          <a:solidFill>
                            <a:srgbClr val="16202B"/>
                          </a:solidFill>
                        </a:rPr>
                        <a:t>Rs 0.0035</a:t>
                      </a:r>
                    </a:p>
                  </a:txBody>
                  <a:tcPr marL="73152" marR="73152" marT="27432" marB="27432" anchor="ctr">
                    <a:solidFill>
                      <a:srgbClr val="F4F1F8"/>
                    </a:solidFill>
                  </a:tcPr>
                </a:tc>
                <a:tc>
                  <a:txBody>
                    <a:bodyPr/>
                    <a:lstStyle/>
                    <a:p>
                      <a:pPr algn="l"/>
                      <a:r>
                        <a:rPr sz="1100" b="1">
                          <a:solidFill>
                            <a:srgbClr val="16202B"/>
                          </a:solidFill>
                        </a:rPr>
                        <a:t>Rs 5,391</a:t>
                      </a:r>
                    </a:p>
                  </a:txBody>
                  <a:tcPr marL="73152" marR="73152" marT="27432" marB="27432" anchor="ctr">
                    <a:solidFill>
                      <a:srgbClr val="F4F1F8"/>
                    </a:solidFill>
                  </a:tcPr>
                </a:tc>
              </a:tr>
              <a:tr h="274320">
                <a:tc>
                  <a:txBody>
                    <a:bodyPr/>
                    <a:lstStyle/>
                    <a:p>
                      <a:pPr algn="l"/>
                      <a:r>
                        <a:rPr sz="1100" b="0">
                          <a:solidFill>
                            <a:srgbClr val="3A4652"/>
                          </a:solidFill>
                        </a:rPr>
                        <a:t>A judge on every response</a:t>
                      </a:r>
                    </a:p>
                  </a:txBody>
                  <a:tcPr marL="73152" marR="73152" marT="27432" marB="27432" anchor="ctr">
                    <a:solidFill>
                      <a:srgbClr val="FFFFFF"/>
                    </a:solidFill>
                  </a:tcPr>
                </a:tc>
                <a:tc>
                  <a:txBody>
                    <a:bodyPr/>
                    <a:lstStyle/>
                    <a:p>
                      <a:pPr algn="l"/>
                      <a:r>
                        <a:rPr sz="1100" b="0">
                          <a:solidFill>
                            <a:srgbClr val="3A4652"/>
                          </a:solidFill>
                        </a:rPr>
                        <a:t>Rs 0.0941</a:t>
                      </a:r>
                    </a:p>
                  </a:txBody>
                  <a:tcPr marL="73152" marR="73152" marT="27432" marB="27432" anchor="ctr">
                    <a:solidFill>
                      <a:srgbClr val="FFFFFF"/>
                    </a:solidFill>
                  </a:tcPr>
                </a:tc>
                <a:tc>
                  <a:txBody>
                    <a:bodyPr/>
                    <a:lstStyle/>
                    <a:p>
                      <a:pPr algn="l"/>
                      <a:r>
                        <a:rPr sz="1100" b="0">
                          <a:solidFill>
                            <a:srgbClr val="3A4652"/>
                          </a:solidFill>
                        </a:rPr>
                        <a:t>Rs 146,763</a:t>
                      </a:r>
                    </a:p>
                  </a:txBody>
                  <a:tcPr marL="73152" marR="73152" marT="27432" marB="27432" anchor="ctr">
                    <a:solidFill>
                      <a:srgbClr val="FFFFFF"/>
                    </a:solidFill>
                  </a:tcPr>
                </a:tc>
              </a:tr>
              <a:tr h="274320">
                <a:tc>
                  <a:txBody>
                    <a:bodyPr/>
                    <a:lstStyle/>
                    <a:p>
                      <a:pPr algn="l"/>
                      <a:r>
                        <a:rPr sz="1100" b="0">
                          <a:solidFill>
                            <a:srgbClr val="3A4652"/>
                          </a:solidFill>
                        </a:rPr>
                        <a:t>Difference</a:t>
                      </a:r>
                    </a:p>
                  </a:txBody>
                  <a:tcPr marL="73152" marR="73152" marT="27432" marB="27432" anchor="ctr">
                    <a:solidFill>
                      <a:srgbClr val="FFFFFF"/>
                    </a:solidFill>
                  </a:tcPr>
                </a:tc>
                <a:tc>
                  <a:txBody>
                    <a:bodyPr/>
                    <a:lstStyle/>
                    <a:p>
                      <a:pPr algn="l"/>
                    </a:p>
                  </a:txBody>
                  <a:tcPr marL="73152" marR="73152" marT="27432" marB="27432" anchor="ctr">
                    <a:solidFill>
                      <a:srgbClr val="FFFFFF"/>
                    </a:solidFill>
                  </a:tcPr>
                </a:tc>
                <a:tc>
                  <a:txBody>
                    <a:bodyPr/>
                    <a:lstStyle/>
                    <a:p>
                      <a:pPr algn="l"/>
                      <a:r>
                        <a:rPr sz="1100" b="0">
                          <a:solidFill>
                            <a:srgbClr val="3A4652"/>
                          </a:solidFill>
                        </a:rPr>
                        <a:t>Rs 141,372</a:t>
                      </a:r>
                    </a:p>
                  </a:txBody>
                  <a:tcPr marL="73152" marR="73152" marT="27432" marB="27432" anchor="ctr">
                    <a:solidFill>
                      <a:srgbClr val="FFFFFF"/>
                    </a:solidFill>
                  </a:tcPr>
                </a:tc>
              </a:tr>
            </a:tbl>
          </a:graphicData>
        </a:graphic>
      </p:graphicFrame>
      <p:sp>
        <p:nvSpPr>
          <p:cNvPr id="5" name="TextBox 4"/>
          <p:cNvSpPr txBox="1"/>
          <p:nvPr/>
        </p:nvSpPr>
        <p:spPr>
          <a:xfrm>
            <a:off x="7498079" y="1828800"/>
            <a:ext cx="4114800" cy="3931920"/>
          </a:xfrm>
          <a:prstGeom prst="rect">
            <a:avLst/>
          </a:prstGeom>
          <a:noFill/>
        </p:spPr>
        <p:txBody>
          <a:bodyPr wrap="square">
            <a:spAutoFit/>
          </a:bodyPr>
          <a:lstStyle/>
          <a:p>
            <a:pPr>
              <a:spcAft>
                <a:spcPts val="400"/>
              </a:spcAft>
            </a:pPr>
            <a:r>
              <a:rPr sz="1300" b="1">
                <a:solidFill>
                  <a:srgbClr val="16202B"/>
                </a:solidFill>
              </a:rPr>
              <a:t>Verification is not the expensive part.</a:t>
            </a:r>
          </a:p>
          <a:p>
            <a:pPr>
              <a:spcAft>
                <a:spcPts val="1200"/>
              </a:spcAft>
            </a:pPr>
            <a:r>
              <a:rPr sz="1500" b="1">
                <a:solidFill>
                  <a:srgbClr val="A100FF"/>
                </a:solidFill>
              </a:rPr>
              <a:t>Human review is.</a:t>
            </a:r>
          </a:p>
          <a:p>
            <a:pPr>
              <a:spcAft>
                <a:spcPts val="1000"/>
              </a:spcAft>
            </a:pPr>
            <a:r>
              <a:rPr sz="1150" b="0">
                <a:solidFill>
                  <a:srgbClr val="3A4652"/>
                </a:solidFill>
              </a:rPr>
              <a:t>decision_support escalates 32.3% of its traffic. At Rs 200 a review, that one use case sends 168,000 responses a year to a person: Rs 3.36 crore — against Rs 5,391 of compute for the whole estate.</a:t>
            </a:r>
          </a:p>
          <a:p>
            <a:pPr>
              <a:spcAft>
                <a:spcPts val="0"/>
              </a:spcAft>
            </a:pPr>
            <a:r>
              <a:rPr sz="1100" b="0">
                <a:solidFill>
                  <a:srgbClr val="6B7782"/>
                </a:solidFill>
              </a:rPr>
              <a:t>Held to the 20% it declares it can review, the same use case costs Rs 2.08 crore. Both are real; neither is a forecast.</a:t>
            </a:r>
          </a:p>
        </p:txBody>
      </p:sp>
      <p:sp>
        <p:nvSpPr>
          <p:cNvPr id="6" name="TextBox 5"/>
          <p:cNvSpPr txBox="1"/>
          <p:nvPr/>
        </p:nvSpPr>
        <p:spPr>
          <a:xfrm>
            <a:off x="557784" y="3886200"/>
            <a:ext cx="6583680" cy="1920240"/>
          </a:xfrm>
          <a:prstGeom prst="rect">
            <a:avLst/>
          </a:prstGeom>
          <a:noFill/>
        </p:spPr>
        <p:txBody>
          <a:bodyPr wrap="square">
            <a:spAutoFit/>
          </a:bodyPr>
          <a:lstStyle/>
          <a:p>
            <a:pPr>
              <a:spcAft>
                <a:spcPts val="1000"/>
              </a:spcAft>
            </a:pPr>
            <a:r>
              <a:rPr sz="1200" b="0">
                <a:solidFill>
                  <a:srgbClr val="3A4652"/>
                </a:solidFill>
              </a:rPr>
              <a:t>This reframes what the product is for. It is not a way to buy cheap verification — it is a way to control how much human review you have to buy, and to justify each unit of it.</a:t>
            </a:r>
          </a:p>
          <a:p>
            <a:pPr>
              <a:spcAft>
                <a:spcPts val="0"/>
              </a:spcAft>
            </a:pPr>
            <a:r>
              <a:rPr sz="1200" b="1">
                <a:solidFill>
                  <a:srgbClr val="16202B"/>
                </a:solidFill>
              </a:rPr>
              <a:t>Moving the escalation rate by one percentage point is worth more than the entire verification bill.</a:t>
            </a:r>
          </a:p>
        </p:txBody>
      </p:sp>
      <p:sp>
        <p:nvSpPr>
          <p:cNvPr id="7" name="TextBox 6"/>
          <p:cNvSpPr txBox="1"/>
          <p:nvPr/>
        </p:nvSpPr>
        <p:spPr>
          <a:xfrm>
            <a:off x="557784" y="6053328"/>
            <a:ext cx="11064240" cy="365760"/>
          </a:xfrm>
          <a:prstGeom prst="rect">
            <a:avLst/>
          </a:prstGeom>
          <a:noFill/>
        </p:spPr>
        <p:txBody>
          <a:bodyPr wrap="square">
            <a:spAutoFit/>
          </a:bodyPr>
          <a:lstStyle/>
          <a:p>
            <a:r>
              <a:rPr sz="950" i="1">
                <a:solidFill>
                  <a:srgbClr val="6B7782"/>
                </a:solidFill>
              </a:rPr>
              <a:t>The eval set is 57.7% harmful by construction, so its escalation rate is an upper bound on production traffic. Cost parameters are assumptions, listed in docs/assumptions.md.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When it pays for itself</a:t>
            </a:r>
          </a:p>
        </p:txBody>
      </p:sp>
      <p:sp>
        <p:nvSpPr>
          <p:cNvPr id="3" name="TextBox 2"/>
          <p:cNvSpPr txBox="1"/>
          <p:nvPr/>
        </p:nvSpPr>
        <p:spPr>
          <a:xfrm>
            <a:off x="557784" y="1060704"/>
            <a:ext cx="11064240" cy="457200"/>
          </a:xfrm>
          <a:prstGeom prst="rect">
            <a:avLst/>
          </a:prstGeom>
          <a:noFill/>
        </p:spPr>
        <p:txBody>
          <a:bodyPr wrap="square">
            <a:spAutoFit/>
          </a:bodyPr>
          <a:lstStyle/>
          <a:p>
            <a:r>
              <a:rPr sz="1250">
                <a:solidFill>
                  <a:srgbClr val="6B7782"/>
                </a:solidFill>
              </a:rPr>
              <a:t>Verification costs Rs 0.0035 per response. At the measured catch rate:</a:t>
            </a:r>
          </a:p>
        </p:txBody>
      </p:sp>
      <p:graphicFrame>
        <p:nvGraphicFramePr>
          <p:cNvPr id="4" name="Table 3"/>
          <p:cNvGraphicFramePr>
            <a:graphicFrameLocks noGrp="1"/>
          </p:cNvGraphicFramePr>
          <p:nvPr/>
        </p:nvGraphicFramePr>
        <p:xfrm>
          <a:off x="557784" y="1920240"/>
          <a:ext cx="7315200" cy="1133856"/>
        </p:xfrm>
        <a:graphic>
          <a:graphicData uri="http://schemas.openxmlformats.org/drawingml/2006/table">
            <a:tbl>
              <a:tblPr firstRow="1">
                <a:tableStyleId>{5C22544A-7EE6-4342-B048-85BDC9FD1C3A}</a:tableStyleId>
              </a:tblPr>
              <a:tblGrid>
                <a:gridCol w="3291840"/>
                <a:gridCol w="4023360"/>
              </a:tblGrid>
              <a:tr h="310896">
                <a:tc>
                  <a:txBody>
                    <a:bodyPr/>
                    <a:lstStyle/>
                    <a:p>
                      <a:pPr algn="l"/>
                      <a:r>
                        <a:rPr sz="950" b="1">
                          <a:solidFill>
                            <a:srgbClr val="6B7782"/>
                          </a:solidFill>
                        </a:rPr>
                        <a:t>Use case</a:t>
                      </a:r>
                    </a:p>
                  </a:txBody>
                  <a:tcPr marL="73152" marR="73152" marT="27432" marB="27432" anchor="ctr">
                    <a:solidFill>
                      <a:srgbClr val="F4F1F8"/>
                    </a:solidFill>
                  </a:tcPr>
                </a:tc>
                <a:tc>
                  <a:txBody>
                    <a:bodyPr/>
                    <a:lstStyle/>
                    <a:p>
                      <a:pPr algn="l"/>
                      <a:r>
                        <a:rPr sz="950" b="1">
                          <a:solidFill>
                            <a:srgbClr val="6B7782"/>
                          </a:solidFill>
                        </a:rPr>
                        <a:t>Pays for itself at</a:t>
                      </a:r>
                    </a:p>
                  </a:txBody>
                  <a:tcPr marL="73152" marR="73152" marT="27432" marB="27432" anchor="ctr">
                    <a:solidFill>
                      <a:srgbClr val="F4F1F8"/>
                    </a:solidFill>
                  </a:tcPr>
                </a:tc>
              </a:tr>
              <a:tr h="274320">
                <a:tc>
                  <a:txBody>
                    <a:bodyPr/>
                    <a:lstStyle/>
                    <a:p>
                      <a:pPr algn="l"/>
                      <a:r>
                        <a:rPr sz="1100" b="0">
                          <a:solidFill>
                            <a:srgbClr val="3A4652"/>
                          </a:solidFill>
                        </a:rPr>
                        <a:t>internal_copilot</a:t>
                      </a:r>
                    </a:p>
                  </a:txBody>
                  <a:tcPr marL="73152" marR="73152" marT="27432" marB="27432" anchor="ctr">
                    <a:solidFill>
                      <a:srgbClr val="FFFFFF"/>
                    </a:solidFill>
                  </a:tcPr>
                </a:tc>
                <a:tc>
                  <a:txBody>
                    <a:bodyPr/>
                    <a:lstStyle/>
                    <a:p>
                      <a:pPr algn="r"/>
                      <a:r>
                        <a:rPr sz="1100" b="0">
                          <a:solidFill>
                            <a:srgbClr val="3A4652"/>
                          </a:solidFill>
                        </a:rPr>
                        <a:t>1 harmful response in 16,400</a:t>
                      </a:r>
                    </a:p>
                  </a:txBody>
                  <a:tcPr marL="73152" marR="73152" marT="27432" marB="27432" anchor="ctr">
                    <a:solidFill>
                      <a:srgbClr val="FFFFFF"/>
                    </a:solidFill>
                  </a:tcPr>
                </a:tc>
              </a:tr>
              <a:tr h="274320">
                <a:tc>
                  <a:txBody>
                    <a:bodyPr/>
                    <a:lstStyle/>
                    <a:p>
                      <a:pPr algn="l"/>
                      <a:r>
                        <a:rPr sz="1100" b="0">
                          <a:solidFill>
                            <a:srgbClr val="3A4652"/>
                          </a:solidFill>
                        </a:rPr>
                        <a:t>customer_support</a:t>
                      </a:r>
                    </a:p>
                  </a:txBody>
                  <a:tcPr marL="73152" marR="73152" marT="27432" marB="27432" anchor="ctr">
                    <a:solidFill>
                      <a:srgbClr val="FFFFFF"/>
                    </a:solidFill>
                  </a:tcPr>
                </a:tc>
                <a:tc>
                  <a:txBody>
                    <a:bodyPr/>
                    <a:lstStyle/>
                    <a:p>
                      <a:pPr algn="r"/>
                      <a:r>
                        <a:rPr sz="1100" b="0">
                          <a:solidFill>
                            <a:srgbClr val="3A4652"/>
                          </a:solidFill>
                        </a:rPr>
                        <a:t>1 harmful response in 109,000</a:t>
                      </a:r>
                    </a:p>
                  </a:txBody>
                  <a:tcPr marL="73152" marR="73152" marT="27432" marB="27432" anchor="ctr">
                    <a:solidFill>
                      <a:srgbClr val="FFFFFF"/>
                    </a:solidFill>
                  </a:tcPr>
                </a:tc>
              </a:tr>
              <a:tr h="274320">
                <a:tc>
                  <a:txBody>
                    <a:bodyPr/>
                    <a:lstStyle/>
                    <a:p>
                      <a:pPr algn="l"/>
                      <a:r>
                        <a:rPr sz="1100" b="0">
                          <a:solidFill>
                            <a:srgbClr val="3A4652"/>
                          </a:solidFill>
                        </a:rPr>
                        <a:t>decision_support</a:t>
                      </a:r>
                    </a:p>
                  </a:txBody>
                  <a:tcPr marL="73152" marR="73152" marT="27432" marB="27432" anchor="ctr">
                    <a:solidFill>
                      <a:srgbClr val="FFFFFF"/>
                    </a:solidFill>
                  </a:tcPr>
                </a:tc>
                <a:tc>
                  <a:txBody>
                    <a:bodyPr/>
                    <a:lstStyle/>
                    <a:p>
                      <a:pPr algn="r"/>
                      <a:r>
                        <a:rPr sz="1100" b="0">
                          <a:solidFill>
                            <a:srgbClr val="3A4652"/>
                          </a:solidFill>
                        </a:rPr>
                        <a:t>1 harmful response in 13.7 million</a:t>
                      </a:r>
                    </a:p>
                  </a:txBody>
                  <a:tcPr marL="73152" marR="73152" marT="27432" marB="27432" anchor="ctr">
                    <a:solidFill>
                      <a:srgbClr val="FFFFFF"/>
                    </a:solidFill>
                  </a:tcPr>
                </a:tc>
              </a:tr>
            </a:tbl>
          </a:graphicData>
        </a:graphic>
      </p:graphicFrame>
      <p:sp>
        <p:nvSpPr>
          <p:cNvPr id="5" name="TextBox 4"/>
          <p:cNvSpPr txBox="1"/>
          <p:nvPr/>
        </p:nvSpPr>
        <p:spPr>
          <a:xfrm>
            <a:off x="557784" y="3657600"/>
            <a:ext cx="11064240" cy="2103120"/>
          </a:xfrm>
          <a:prstGeom prst="rect">
            <a:avLst/>
          </a:prstGeom>
          <a:noFill/>
        </p:spPr>
        <p:txBody>
          <a:bodyPr wrap="square">
            <a:spAutoFit/>
          </a:bodyPr>
          <a:lstStyle/>
          <a:p>
            <a:pPr>
              <a:spcAft>
                <a:spcPts val="1200"/>
              </a:spcAft>
            </a:pPr>
            <a:r>
              <a:rPr sz="1300" b="1">
                <a:solidFill>
                  <a:srgbClr val="16202B"/>
                </a:solidFill>
              </a:rPr>
              <a:t>Published hallucination rates for retrieval-grounded assistants are orders of magnitude above any of these.</a:t>
            </a:r>
          </a:p>
          <a:p>
            <a:pPr>
              <a:spcAft>
                <a:spcPts val="0"/>
              </a:spcAft>
            </a:pPr>
            <a:r>
              <a:rPr sz="1300" b="1">
                <a:solidFill>
                  <a:srgbClr val="A100FF"/>
                </a:solidFill>
              </a:rPr>
              <a:t>The verification layer is not a cost decision. The review queue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Roadmap</a:t>
            </a:r>
          </a:p>
        </p:txBody>
      </p:sp>
      <p:sp>
        <p:nvSpPr>
          <p:cNvPr id="3" name="TextBox 2"/>
          <p:cNvSpPr txBox="1"/>
          <p:nvPr/>
        </p:nvSpPr>
        <p:spPr>
          <a:xfrm>
            <a:off x="557784" y="1600200"/>
            <a:ext cx="2377440" cy="1097280"/>
          </a:xfrm>
          <a:prstGeom prst="rect">
            <a:avLst/>
          </a:prstGeom>
          <a:noFill/>
        </p:spPr>
        <p:txBody>
          <a:bodyPr wrap="square">
            <a:spAutoFit/>
          </a:bodyPr>
          <a:lstStyle/>
          <a:p>
            <a:pPr>
              <a:spcAft>
                <a:spcPts val="200"/>
              </a:spcAft>
            </a:pPr>
            <a:r>
              <a:rPr sz="1100" b="1">
                <a:solidFill>
                  <a:srgbClr val="A100FF"/>
                </a:solidFill>
              </a:rPr>
              <a:t>Phase 1 — done</a:t>
            </a:r>
          </a:p>
          <a:p>
            <a:pPr>
              <a:spcAft>
                <a:spcPts val="0"/>
              </a:spcAft>
            </a:pPr>
            <a:r>
              <a:rPr sz="1250" b="1">
                <a:solidFill>
                  <a:srgbClr val="16202B"/>
                </a:solidFill>
              </a:rPr>
              <a:t>This prototype</a:t>
            </a:r>
          </a:p>
        </p:txBody>
      </p:sp>
      <p:sp>
        <p:nvSpPr>
          <p:cNvPr id="4" name="TextBox 3"/>
          <p:cNvSpPr txBox="1"/>
          <p:nvPr/>
        </p:nvSpPr>
        <p:spPr>
          <a:xfrm>
            <a:off x="3108960" y="1600200"/>
            <a:ext cx="8503920" cy="1097280"/>
          </a:xfrm>
          <a:prstGeom prst="rect">
            <a:avLst/>
          </a:prstGeom>
          <a:noFill/>
        </p:spPr>
        <p:txBody>
          <a:bodyPr wrap="square">
            <a:spAutoFit/>
          </a:bodyPr>
          <a:lstStyle/>
          <a:p>
            <a:pPr>
              <a:spcAft>
                <a:spcPts val="0"/>
              </a:spcAft>
            </a:pPr>
            <a:r>
              <a:rPr sz="1100" b="0">
                <a:solidFill>
                  <a:srgbClr val="3A4652"/>
                </a:solidFill>
              </a:rPr>
              <a:t>Three-tier cascade, policy layer, expected-cost router, cost meter with verified prices, hash-chained audit, OpenAI-compatible gateway, streaming-concurrent verification, feedback loop, operator dashboard, 319-case benchmark with published failure modes.</a:t>
            </a:r>
          </a:p>
        </p:txBody>
      </p:sp>
      <p:sp>
        <p:nvSpPr>
          <p:cNvPr id="5" name="TextBox 4"/>
          <p:cNvSpPr txBox="1"/>
          <p:nvPr/>
        </p:nvSpPr>
        <p:spPr>
          <a:xfrm>
            <a:off x="557784" y="2770632"/>
            <a:ext cx="2377440" cy="1097280"/>
          </a:xfrm>
          <a:prstGeom prst="rect">
            <a:avLst/>
          </a:prstGeom>
          <a:noFill/>
        </p:spPr>
        <p:txBody>
          <a:bodyPr wrap="square">
            <a:spAutoFit/>
          </a:bodyPr>
          <a:lstStyle/>
          <a:p>
            <a:pPr>
              <a:spcAft>
                <a:spcPts val="200"/>
              </a:spcAft>
            </a:pPr>
            <a:r>
              <a:rPr sz="1100" b="1">
                <a:solidFill>
                  <a:srgbClr val="A100FF"/>
                </a:solidFill>
              </a:rPr>
              <a:t>Phase 2 — 1–2 quarters</a:t>
            </a:r>
          </a:p>
          <a:p>
            <a:pPr>
              <a:spcAft>
                <a:spcPts val="0"/>
              </a:spcAft>
            </a:pPr>
            <a:r>
              <a:rPr sz="1250" b="1">
                <a:solidFill>
                  <a:srgbClr val="16202B"/>
                </a:solidFill>
              </a:rPr>
              <a:t>Production readiness</a:t>
            </a:r>
          </a:p>
        </p:txBody>
      </p:sp>
      <p:sp>
        <p:nvSpPr>
          <p:cNvPr id="6" name="TextBox 5"/>
          <p:cNvSpPr txBox="1"/>
          <p:nvPr/>
        </p:nvSpPr>
        <p:spPr>
          <a:xfrm>
            <a:off x="3108960" y="2770632"/>
            <a:ext cx="8503920" cy="1097280"/>
          </a:xfrm>
          <a:prstGeom prst="rect">
            <a:avLst/>
          </a:prstGeom>
          <a:noFill/>
        </p:spPr>
        <p:txBody>
          <a:bodyPr wrap="square">
            <a:spAutoFit/>
          </a:bodyPr>
          <a:lstStyle/>
          <a:p>
            <a:pPr>
              <a:spcAft>
                <a:spcPts val="0"/>
              </a:spcAft>
            </a:pPr>
            <a:r>
              <a:rPr sz="1100" b="0">
                <a:solidFill>
                  <a:srgbClr val="3A4652"/>
                </a:solidFill>
              </a:rPr>
              <a:t>Operator dashboard with a live escalation queue. Multi-tenant auth and RBAC. Retrieval-quality signals, so a grounded answer built on a stale chunk is distinguishable from a good one. Multi-hop grounding via evidence-set entailment. Calibration on customer data, replacing our assumed cost parameters with real ones.</a:t>
            </a:r>
          </a:p>
        </p:txBody>
      </p:sp>
      <p:sp>
        <p:nvSpPr>
          <p:cNvPr id="7" name="TextBox 6"/>
          <p:cNvSpPr txBox="1"/>
          <p:nvPr/>
        </p:nvSpPr>
        <p:spPr>
          <a:xfrm>
            <a:off x="557784" y="3941064"/>
            <a:ext cx="2377440" cy="1097280"/>
          </a:xfrm>
          <a:prstGeom prst="rect">
            <a:avLst/>
          </a:prstGeom>
          <a:noFill/>
        </p:spPr>
        <p:txBody>
          <a:bodyPr wrap="square">
            <a:spAutoFit/>
          </a:bodyPr>
          <a:lstStyle/>
          <a:p>
            <a:pPr>
              <a:spcAft>
                <a:spcPts val="200"/>
              </a:spcAft>
            </a:pPr>
            <a:r>
              <a:rPr sz="1100" b="1">
                <a:solidFill>
                  <a:srgbClr val="A100FF"/>
                </a:solidFill>
              </a:rPr>
              <a:t>Phase 3 — 2–4 quarters</a:t>
            </a:r>
          </a:p>
          <a:p>
            <a:pPr>
              <a:spcAft>
                <a:spcPts val="0"/>
              </a:spcAft>
            </a:pPr>
            <a:r>
              <a:rPr sz="1250" b="1">
                <a:solidFill>
                  <a:srgbClr val="16202B"/>
                </a:solidFill>
              </a:rPr>
              <a:t>Coverage</a:t>
            </a:r>
          </a:p>
        </p:txBody>
      </p:sp>
      <p:sp>
        <p:nvSpPr>
          <p:cNvPr id="8" name="TextBox 7"/>
          <p:cNvSpPr txBox="1"/>
          <p:nvPr/>
        </p:nvSpPr>
        <p:spPr>
          <a:xfrm>
            <a:off x="3108960" y="3941064"/>
            <a:ext cx="8503920" cy="1097280"/>
          </a:xfrm>
          <a:prstGeom prst="rect">
            <a:avLst/>
          </a:prstGeom>
          <a:noFill/>
        </p:spPr>
        <p:txBody>
          <a:bodyPr wrap="square">
            <a:spAutoFit/>
          </a:bodyPr>
          <a:lstStyle/>
          <a:p>
            <a:pPr>
              <a:spcAft>
                <a:spcPts val="0"/>
              </a:spcAft>
            </a:pPr>
            <a:r>
              <a:rPr sz="1100" b="0">
                <a:solidFill>
                  <a:srgbClr val="3A4652"/>
                </a:solidFill>
              </a:rPr>
              <a:t>Multi-turn risk accumulation. Agent action gating — verifying tool calls, not only text. Counterfactual bias probing for disparate impact. Jurisdiction packs for EU AI Act and DPDP evidence export.</a:t>
            </a:r>
          </a:p>
        </p:txBody>
      </p:sp>
      <p:sp>
        <p:nvSpPr>
          <p:cNvPr id="9" name="TextBox 8"/>
          <p:cNvSpPr txBox="1"/>
          <p:nvPr/>
        </p:nvSpPr>
        <p:spPr>
          <a:xfrm>
            <a:off x="557784" y="5111496"/>
            <a:ext cx="2377440" cy="1097280"/>
          </a:xfrm>
          <a:prstGeom prst="rect">
            <a:avLst/>
          </a:prstGeom>
          <a:noFill/>
        </p:spPr>
        <p:txBody>
          <a:bodyPr wrap="square">
            <a:spAutoFit/>
          </a:bodyPr>
          <a:lstStyle/>
          <a:p>
            <a:pPr>
              <a:spcAft>
                <a:spcPts val="200"/>
              </a:spcAft>
            </a:pPr>
            <a:r>
              <a:rPr sz="1100" b="1">
                <a:solidFill>
                  <a:srgbClr val="A100FF"/>
                </a:solidFill>
              </a:rPr>
              <a:t>Phase 4</a:t>
            </a:r>
          </a:p>
          <a:p>
            <a:pPr>
              <a:spcAft>
                <a:spcPts val="0"/>
              </a:spcAft>
            </a:pPr>
            <a:r>
              <a:rPr sz="1250" b="1">
                <a:solidFill>
                  <a:srgbClr val="16202B"/>
                </a:solidFill>
              </a:rPr>
              <a:t>Scale</a:t>
            </a:r>
          </a:p>
        </p:txBody>
      </p:sp>
      <p:sp>
        <p:nvSpPr>
          <p:cNvPr id="10" name="TextBox 9"/>
          <p:cNvSpPr txBox="1"/>
          <p:nvPr/>
        </p:nvSpPr>
        <p:spPr>
          <a:xfrm>
            <a:off x="3108960" y="5111496"/>
            <a:ext cx="8503920" cy="1097280"/>
          </a:xfrm>
          <a:prstGeom prst="rect">
            <a:avLst/>
          </a:prstGeom>
          <a:noFill/>
        </p:spPr>
        <p:txBody>
          <a:bodyPr wrap="square">
            <a:spAutoFit/>
          </a:bodyPr>
          <a:lstStyle/>
          <a:p>
            <a:pPr>
              <a:spcAft>
                <a:spcPts val="0"/>
              </a:spcAft>
            </a:pPr>
            <a:r>
              <a:rPr sz="1100" b="0">
                <a:solidFill>
                  <a:srgbClr val="3A4652"/>
                </a:solidFill>
              </a:rPr>
              <a:t>Distilled tier 1 models to cut the 85 ms. Regional inference for data residency. Continuous calibration from the review queue.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Risks, and what we do about them</a:t>
            </a:r>
          </a:p>
        </p:txBody>
      </p:sp>
      <p:graphicFrame>
        <p:nvGraphicFramePr>
          <p:cNvPr id="3" name="Table 2"/>
          <p:cNvGraphicFramePr>
            <a:graphicFrameLocks noGrp="1"/>
          </p:cNvGraphicFramePr>
          <p:nvPr/>
        </p:nvGraphicFramePr>
        <p:xfrm>
          <a:off x="557784" y="1691640"/>
          <a:ext cx="11064240" cy="1956816"/>
        </p:xfrm>
        <a:graphic>
          <a:graphicData uri="http://schemas.openxmlformats.org/drawingml/2006/table">
            <a:tbl>
              <a:tblPr firstRow="1">
                <a:tableStyleId>{5C22544A-7EE6-4342-B048-85BDC9FD1C3A}</a:tableStyleId>
              </a:tblPr>
              <a:tblGrid>
                <a:gridCol w="3200400"/>
                <a:gridCol w="4023360"/>
                <a:gridCol w="3840480"/>
              </a:tblGrid>
              <a:tr h="310896">
                <a:tc>
                  <a:txBody>
                    <a:bodyPr/>
                    <a:lstStyle/>
                    <a:p>
                      <a:pPr algn="l"/>
                      <a:r>
                        <a:rPr sz="950" b="1">
                          <a:solidFill>
                            <a:srgbClr val="6B7782"/>
                          </a:solidFill>
                        </a:rPr>
                        <a:t>Risk</a:t>
                      </a:r>
                    </a:p>
                  </a:txBody>
                  <a:tcPr marL="73152" marR="73152" marT="27432" marB="27432" anchor="ctr">
                    <a:solidFill>
                      <a:srgbClr val="F4F1F8"/>
                    </a:solidFill>
                  </a:tcPr>
                </a:tc>
                <a:tc>
                  <a:txBody>
                    <a:bodyPr/>
                    <a:lstStyle/>
                    <a:p>
                      <a:pPr algn="l"/>
                      <a:r>
                        <a:rPr sz="950" b="1">
                          <a:solidFill>
                            <a:srgbClr val="6B7782"/>
                          </a:solidFill>
                        </a:rPr>
                        <a:t>Why it is real</a:t>
                      </a:r>
                    </a:p>
                  </a:txBody>
                  <a:tcPr marL="73152" marR="73152" marT="27432" marB="27432" anchor="ctr">
                    <a:solidFill>
                      <a:srgbClr val="F4F1F8"/>
                    </a:solidFill>
                  </a:tcPr>
                </a:tc>
                <a:tc>
                  <a:txBody>
                    <a:bodyPr/>
                    <a:lstStyle/>
                    <a:p>
                      <a:pPr algn="l"/>
                      <a:r>
                        <a:rPr sz="950" b="1">
                          <a:solidFill>
                            <a:srgbClr val="6B7782"/>
                          </a:solidFill>
                        </a:rPr>
                        <a:t>Mitigation</a:t>
                      </a:r>
                    </a:p>
                  </a:txBody>
                  <a:tcPr marL="73152" marR="73152" marT="27432" marB="27432" anchor="ctr">
                    <a:solidFill>
                      <a:srgbClr val="F4F1F8"/>
                    </a:solidFill>
                  </a:tcPr>
                </a:tc>
              </a:tr>
              <a:tr h="274320">
                <a:tc>
                  <a:txBody>
                    <a:bodyPr/>
                    <a:lstStyle/>
                    <a:p>
                      <a:pPr algn="l"/>
                      <a:r>
                        <a:rPr sz="950" b="0">
                          <a:solidFill>
                            <a:srgbClr val="3A4652"/>
                          </a:solidFill>
                        </a:rPr>
                        <a:t>Cost assumptions are ours, not a customer's</a:t>
                      </a:r>
                    </a:p>
                  </a:txBody>
                  <a:tcPr marL="73152" marR="73152" marT="27432" marB="27432" anchor="ctr">
                    <a:solidFill>
                      <a:srgbClr val="FFFFFF"/>
                    </a:solidFill>
                  </a:tcPr>
                </a:tc>
                <a:tc>
                  <a:txBody>
                    <a:bodyPr/>
                    <a:lstStyle/>
                    <a:p>
                      <a:pPr algn="l"/>
                      <a:r>
                        <a:rPr sz="950" b="0">
                          <a:solidFill>
                            <a:srgbClr val="3A4652"/>
                          </a:solidFill>
                        </a:rPr>
                        <a:t>Every routing decision depends on cost_of_being_wrong, and we set it</a:t>
                      </a:r>
                    </a:p>
                  </a:txBody>
                  <a:tcPr marL="73152" marR="73152" marT="27432" marB="27432" anchor="ctr">
                    <a:solidFill>
                      <a:srgbClr val="FFFFFF"/>
                    </a:solidFill>
                  </a:tcPr>
                </a:tc>
                <a:tc>
                  <a:txBody>
                    <a:bodyPr/>
                    <a:lstStyle/>
                    <a:p>
                      <a:pPr algn="l"/>
                      <a:r>
                        <a:rPr sz="950" b="0">
                          <a:solidFill>
                            <a:srgbClr val="3A4652"/>
                          </a:solidFill>
                        </a:rPr>
                        <a:t>One YAML value per use case; Phase 2 calibrates against real incident cost</a:t>
                      </a:r>
                    </a:p>
                  </a:txBody>
                  <a:tcPr marL="73152" marR="73152" marT="27432" marB="27432" anchor="ctr">
                    <a:solidFill>
                      <a:srgbClr val="FFFFFF"/>
                    </a:solidFill>
                  </a:tcPr>
                </a:tc>
              </a:tr>
              <a:tr h="274320">
                <a:tc>
                  <a:txBody>
                    <a:bodyPr/>
                    <a:lstStyle/>
                    <a:p>
                      <a:pPr algn="l"/>
                      <a:r>
                        <a:rPr sz="950" b="0">
                          <a:solidFill>
                            <a:srgbClr val="3A4652"/>
                          </a:solidFill>
                        </a:rPr>
                        <a:t>Alert fatigue</a:t>
                      </a:r>
                    </a:p>
                  </a:txBody>
                  <a:tcPr marL="73152" marR="73152" marT="27432" marB="27432" anchor="ctr">
                    <a:solidFill>
                      <a:srgbClr val="FFFFFF"/>
                    </a:solidFill>
                  </a:tcPr>
                </a:tc>
                <a:tc>
                  <a:txBody>
                    <a:bodyPr/>
                    <a:lstStyle/>
                    <a:p>
                      <a:pPr algn="r"/>
                      <a:r>
                        <a:rPr sz="950" b="0">
                          <a:solidFill>
                            <a:srgbClr val="3A4652"/>
                          </a:solidFill>
                        </a:rPr>
                        <a:t>7.4% false positives at scale is noise, and people route around noisy tools</a:t>
                      </a:r>
                    </a:p>
                  </a:txBody>
                  <a:tcPr marL="73152" marR="73152" marT="27432" marB="27432" anchor="ctr">
                    <a:solidFill>
                      <a:srgbClr val="FFFFFF"/>
                    </a:solidFill>
                  </a:tcPr>
                </a:tc>
                <a:tc>
                  <a:txBody>
                    <a:bodyPr/>
                    <a:lstStyle/>
                    <a:p>
                      <a:pPr algn="l"/>
                      <a:r>
                        <a:rPr sz="950" b="0">
                          <a:solidFill>
                            <a:srgbClr val="3A4652"/>
                          </a:solidFill>
                        </a:rPr>
                        <a:t>Tradeoff curve published; escalation capped by declared capacity; loop retunes</a:t>
                      </a:r>
                    </a:p>
                  </a:txBody>
                  <a:tcPr marL="73152" marR="73152" marT="27432" marB="27432" anchor="ctr">
                    <a:solidFill>
                      <a:srgbClr val="FFFFFF"/>
                    </a:solidFill>
                  </a:tcPr>
                </a:tc>
              </a:tr>
              <a:tr h="274320">
                <a:tc>
                  <a:txBody>
                    <a:bodyPr/>
                    <a:lstStyle/>
                    <a:p>
                      <a:pPr algn="l"/>
                      <a:r>
                        <a:rPr sz="950" b="0">
                          <a:solidFill>
                            <a:srgbClr val="3A4652"/>
                          </a:solidFill>
                        </a:rPr>
                        <a:t>Bad retrieval defeats grounding</a:t>
                      </a:r>
                    </a:p>
                  </a:txBody>
                  <a:tcPr marL="73152" marR="73152" marT="27432" marB="27432" anchor="ctr">
                    <a:solidFill>
                      <a:srgbClr val="FFFFFF"/>
                    </a:solidFill>
                  </a:tcPr>
                </a:tc>
                <a:tc>
                  <a:txBody>
                    <a:bodyPr/>
                    <a:lstStyle/>
                    <a:p>
                      <a:pPr algn="l"/>
                      <a:r>
                        <a:rPr sz="950" b="0">
                          <a:solidFill>
                            <a:srgbClr val="3A4652"/>
                          </a:solidFill>
                        </a:rPr>
                        <a:t>We check the answer against its sources, not the sources against the world</a:t>
                      </a:r>
                    </a:p>
                  </a:txBody>
                  <a:tcPr marL="73152" marR="73152" marT="27432" marB="27432" anchor="ctr">
                    <a:solidFill>
                      <a:srgbClr val="FFFFFF"/>
                    </a:solidFill>
                  </a:tcPr>
                </a:tc>
                <a:tc>
                  <a:txBody>
                    <a:bodyPr/>
                    <a:lstStyle/>
                    <a:p>
                      <a:pPr algn="l"/>
                      <a:r>
                        <a:rPr sz="950" b="0">
                          <a:solidFill>
                            <a:srgbClr val="3A4652"/>
                          </a:solidFill>
                        </a:rPr>
                        <a:t>Named as a limit today; retrieval-quality signals are Phase 2</a:t>
                      </a:r>
                    </a:p>
                  </a:txBody>
                  <a:tcPr marL="73152" marR="73152" marT="27432" marB="27432" anchor="ctr">
                    <a:solidFill>
                      <a:srgbClr val="FFFFFF"/>
                    </a:solidFill>
                  </a:tcPr>
                </a:tc>
              </a:tr>
              <a:tr h="274320">
                <a:tc>
                  <a:txBody>
                    <a:bodyPr/>
                    <a:lstStyle/>
                    <a:p>
                      <a:pPr algn="l"/>
                      <a:r>
                        <a:rPr sz="950" b="0">
                          <a:solidFill>
                            <a:srgbClr val="3A4652"/>
                          </a:solidFill>
                        </a:rPr>
                        <a:t>Bias detection is shallow</a:t>
                      </a:r>
                    </a:p>
                  </a:txBody>
                  <a:tcPr marL="73152" marR="73152" marT="27432" marB="27432" anchor="ctr">
                    <a:solidFill>
                      <a:srgbClr val="FFFFFF"/>
                    </a:solidFill>
                  </a:tcPr>
                </a:tc>
                <a:tc>
                  <a:txBody>
                    <a:bodyPr/>
                    <a:lstStyle/>
                    <a:p>
                      <a:pPr algn="l"/>
                      <a:r>
                        <a:rPr sz="950" b="0">
                          <a:solidFill>
                            <a:srgbClr val="3A4652"/>
                          </a:solidFill>
                        </a:rPr>
                        <a:t>Attribute-plus-decision heuristics cannot see disparate impact</a:t>
                      </a:r>
                    </a:p>
                  </a:txBody>
                  <a:tcPr marL="73152" marR="73152" marT="27432" marB="27432" anchor="ctr">
                    <a:solidFill>
                      <a:srgbClr val="FFFFFF"/>
                    </a:solidFill>
                  </a:tcPr>
                </a:tc>
                <a:tc>
                  <a:txBody>
                    <a:bodyPr/>
                    <a:lstStyle/>
                    <a:p>
                      <a:pPr algn="l"/>
                      <a:r>
                        <a:rPr sz="950" b="0">
                          <a:solidFill>
                            <a:srgbClr val="3A4652"/>
                          </a:solidFill>
                        </a:rPr>
                        <a:t>Scoped honestly; the case for Phase 3 counterfactual probing</a:t>
                      </a:r>
                    </a:p>
                  </a:txBody>
                  <a:tcPr marL="73152" marR="73152" marT="27432" marB="27432" anchor="ctr">
                    <a:solidFill>
                      <a:srgbClr val="FFFFFF"/>
                    </a:solidFill>
                  </a:tcPr>
                </a:tc>
              </a:tr>
              <a:tr h="274320">
                <a:tc>
                  <a:txBody>
                    <a:bodyPr/>
                    <a:lstStyle/>
                    <a:p>
                      <a:pPr algn="l"/>
                      <a:r>
                        <a:rPr sz="950" b="0">
                          <a:solidFill>
                            <a:srgbClr val="3A4652"/>
                          </a:solidFill>
                        </a:rPr>
                        <a:t>The judge is a model too</a:t>
                      </a:r>
                    </a:p>
                  </a:txBody>
                  <a:tcPr marL="73152" marR="73152" marT="27432" marB="27432" anchor="ctr">
                    <a:solidFill>
                      <a:srgbClr val="FFFFFF"/>
                    </a:solidFill>
                  </a:tcPr>
                </a:tc>
                <a:tc>
                  <a:txBody>
                    <a:bodyPr/>
                    <a:lstStyle/>
                    <a:p>
                      <a:pPr algn="l"/>
                      <a:r>
                        <a:rPr sz="950" b="0">
                          <a:solidFill>
                            <a:srgbClr val="3A4652"/>
                          </a:solidFill>
                        </a:rPr>
                        <a:t>It can be wrong, and it costs money and seconds</a:t>
                      </a:r>
                    </a:p>
                  </a:txBody>
                  <a:tcPr marL="73152" marR="73152" marT="27432" marB="27432" anchor="ctr">
                    <a:solidFill>
                      <a:srgbClr val="FFFFFF"/>
                    </a:solidFill>
                  </a:tcPr>
                </a:tc>
                <a:tc>
                  <a:txBody>
                    <a:bodyPr/>
                    <a:lstStyle/>
                    <a:p>
                      <a:pPr algn="l"/>
                      <a:r>
                        <a:rPr sz="950" b="0">
                          <a:solidFill>
                            <a:srgbClr val="3A4652"/>
                          </a:solidFill>
                        </a:rPr>
                        <a:t>Runs on 2.8% of traffic; verdicts logged with reasons; offline fallback</a:t>
                      </a:r>
                    </a:p>
                  </a:txBody>
                  <a:tcPr marL="73152" marR="73152" marT="27432" marB="27432" anchor="ctr">
                    <a:solidFill>
                      <a:srgbClr val="FFFFFF"/>
                    </a:solidFill>
                  </a:tcPr>
                </a:tc>
              </a:tr>
              <a:tr h="274320">
                <a:tc>
                  <a:txBody>
                    <a:bodyPr/>
                    <a:lstStyle/>
                    <a:p>
                      <a:pPr algn="l"/>
                      <a:r>
                        <a:rPr sz="950" b="0">
                          <a:solidFill>
                            <a:srgbClr val="3A4652"/>
                          </a:solidFill>
                        </a:rPr>
                        <a:t>Our own benchmark flatters us</a:t>
                      </a:r>
                    </a:p>
                  </a:txBody>
                  <a:tcPr marL="73152" marR="73152" marT="27432" marB="27432" anchor="ctr">
                    <a:solidFill>
                      <a:srgbClr val="FFFFFF"/>
                    </a:solidFill>
                  </a:tcPr>
                </a:tc>
                <a:tc>
                  <a:txBody>
                    <a:bodyPr/>
                    <a:lstStyle/>
                    <a:p>
                      <a:pPr algn="l"/>
                      <a:r>
                        <a:rPr sz="950" b="0">
                          <a:solidFill>
                            <a:srgbClr val="3A4652"/>
                          </a:solidFill>
                        </a:rPr>
                        <a:t>We wrote the test set and tuned against it</a:t>
                      </a:r>
                    </a:p>
                  </a:txBody>
                  <a:tcPr marL="73152" marR="73152" marT="27432" marB="27432" anchor="ctr">
                    <a:solidFill>
                      <a:srgbClr val="FFFFFF"/>
                    </a:solidFill>
                  </a:tcPr>
                </a:tc>
                <a:tc>
                  <a:txBody>
                    <a:bodyPr/>
                    <a:lstStyle/>
                    <a:p>
                      <a:pPr algn="l"/>
                      <a:r>
                        <a:rPr sz="950" b="0">
                          <a:solidFill>
                            <a:srgbClr val="3A4652"/>
                          </a:solidFill>
                        </a:rPr>
                        <a:t>Adversarial cases added when it scored 100%; failure modes published</a:t>
                      </a:r>
                    </a:p>
                  </a:txBody>
                  <a:tcPr marL="73152" marR="73152" marT="27432" marB="2743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6202B"/>
                </a:solidFill>
              </a:rPr>
              <a:t>Why this rather than the alternatives</a:t>
            </a:r>
          </a:p>
        </p:txBody>
      </p:sp>
      <p:sp>
        <p:nvSpPr>
          <p:cNvPr id="3" name="TextBox 2"/>
          <p:cNvSpPr txBox="1"/>
          <p:nvPr/>
        </p:nvSpPr>
        <p:spPr>
          <a:xfrm>
            <a:off x="557784" y="1828800"/>
            <a:ext cx="11064240" cy="3931920"/>
          </a:xfrm>
          <a:prstGeom prst="rect">
            <a:avLst/>
          </a:prstGeom>
          <a:noFill/>
        </p:spPr>
        <p:txBody>
          <a:bodyPr wrap="square">
            <a:spAutoFit/>
          </a:bodyPr>
          <a:lstStyle/>
          <a:p>
            <a:pPr>
              <a:spcAft>
                <a:spcPts val="1600"/>
              </a:spcAft>
            </a:pPr>
            <a:r>
              <a:rPr sz="1300" b="0">
                <a:solidFill>
                  <a:srgbClr val="3A4652"/>
                </a:solidFill>
              </a:rPr>
              <a:t>Runtime guardrails exist. What does not exist is one layer where all three risk dimensions are scored together, each use case runs its own risk policy, and every check is priced.</a:t>
            </a:r>
          </a:p>
          <a:p>
            <a:pPr>
              <a:spcAft>
                <a:spcPts val="2000"/>
              </a:spcAft>
            </a:pPr>
            <a:r>
              <a:rPr sz="1300" b="0">
                <a:solidFill>
                  <a:srgbClr val="3A4652"/>
                </a:solidFill>
              </a:rPr>
              <a:t>Today a team stacks an eval framework, a grounding checker, an observability platform and an inline guardrail — four products, none of which can tell you whether the check it just ran was worth what it cost.</a:t>
            </a:r>
          </a:p>
          <a:p>
            <a:pPr>
              <a:spcAft>
                <a:spcPts val="800"/>
              </a:spcAft>
            </a:pPr>
            <a:r>
              <a:rPr sz="1600" b="1">
                <a:solidFill>
                  <a:srgbClr val="16202B"/>
                </a:solidFill>
              </a:rPr>
              <a:t>Once verification is cheap, the real question is how much human attention to spend, and where.</a:t>
            </a:r>
          </a:p>
          <a:p>
            <a:pPr>
              <a:spcAft>
                <a:spcPts val="0"/>
              </a:spcAft>
            </a:pPr>
            <a:r>
              <a:rPr sz="1400" b="1">
                <a:solidFill>
                  <a:srgbClr val="A100FF"/>
                </a:solidFill>
              </a:rPr>
              <a:t>That is a question only a system that prices its own decisions can answer.</a:t>
            </a:r>
          </a:p>
        </p:txBody>
      </p:sp>
      <p:sp>
        <p:nvSpPr>
          <p:cNvPr id="4" name="TextBox 3"/>
          <p:cNvSpPr txBox="1"/>
          <p:nvPr/>
        </p:nvSpPr>
        <p:spPr>
          <a:xfrm>
            <a:off x="557784" y="6053328"/>
            <a:ext cx="11064240" cy="365760"/>
          </a:xfrm>
          <a:prstGeom prst="rect">
            <a:avLst/>
          </a:prstGeom>
          <a:noFill/>
        </p:spPr>
        <p:txBody>
          <a:bodyPr wrap="square">
            <a:spAutoFit/>
          </a:bodyPr>
          <a:lstStyle/>
          <a:p>
            <a:r>
              <a:rPr sz="950" i="1">
                <a:solidFill>
                  <a:srgbClr val="6B7782"/>
                </a:solidFill>
              </a:rPr>
              <a:t>Prototype, benchmark and results: github.com/m25csa003-glitch/controlplane · Every figure reproducible with python3 eval/run_eval.py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Tree>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10</TotalTime>
  <Words>118</Words>
  <Application>Microsoft Office PowerPoint</Application>
  <PresentationFormat>Widescreen</PresentationFormat>
  <Paragraphs>29</Paragraphs>
  <Slides>7</Slides>
  <Notes>1</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7</vt:i4>
      </vt:variant>
    </vt:vector>
  </HeadingPairs>
  <TitlesOfParts>
    <vt:vector size="25" baseType="lpstr">
      <vt:lpstr>Aptos</vt:lpstr>
      <vt:lpstr>Arial</vt:lpstr>
      <vt:lpstr>Calibri</vt:lpstr>
      <vt:lpstr>Calibri Light</vt:lpstr>
      <vt:lpstr>Graphik</vt:lpstr>
      <vt:lpstr>Graphik Black</vt:lpstr>
      <vt:lpstr>Graphik Extralight</vt:lpstr>
      <vt:lpstr>Graphik Medium</vt:lpstr>
      <vt:lpstr>Graphik Regular</vt:lpstr>
      <vt:lpstr>Graphik Semibold</vt:lpstr>
      <vt:lpstr>Graphik-Semibold</vt:lpstr>
      <vt:lpstr>GT Sectra Fine Rg</vt:lpstr>
      <vt:lpstr>System Font</vt:lpstr>
      <vt:lpstr>Accenture 2025</vt:lpstr>
      <vt:lpstr>1_Titles</vt:lpstr>
      <vt:lpstr>Titles</vt:lpstr>
      <vt:lpstr>1_Office Theme</vt:lpstr>
      <vt:lpstr>1_Accenture 2025</vt:lpstr>
      <vt:lpstr>PowerPoint Presentation</vt:lpstr>
      <vt:lpstr>Instructions Reference slide– Remove before submission</vt:lpstr>
      <vt:lpstr>Team details</vt:lpstr>
      <vt:lpstr>Describe the problem statement (200 words)</vt:lpstr>
      <vt:lpstr>Proposed solution (200 words)</vt:lpstr>
      <vt:lpstr>Video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lastModifiedBy>Gupta, Sumit</cp:lastModifiedBy>
  <cp:revision>3</cp:revision>
  <dcterms:created xsi:type="dcterms:W3CDTF">2026-07-24T04:09:52Z</dcterms:created>
  <dcterms:modified xsi:type="dcterms:W3CDTF">2026-08-12T11:52:50Z</dcterms:modified>
</cp:coreProperties>
</file>